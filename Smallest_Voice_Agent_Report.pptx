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9baf6764ea4a0c" /><Relationship Type="http://schemas.openxmlformats.org/officeDocument/2006/relationships/extended-properties" Target="/docProps/app.xml" Id="R15cd90701ce94437" /><Relationship Type="http://schemas.openxmlformats.org/officeDocument/2006/relationships/officeDocument" Target="/ppt/presentation.xml" Id="R8de89c0414f949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4e1499675d4e11"/>
  </p:sldMasterIdLst>
  <p:notesMasterIdLst>
    <p:notesMasterId xmlns:r="http://schemas.openxmlformats.org/officeDocument/2006/relationships" r:id="Rb59187baa5b4421d"/>
  </p:notesMasterIdLst>
  <p:sldIdLst>
    <p:sldId xmlns:r="http://schemas.openxmlformats.org/officeDocument/2006/relationships" id="256" r:id="Rd0a749431b5f4d9e"/>
    <p:sldId xmlns:r="http://schemas.openxmlformats.org/officeDocument/2006/relationships" id="257" r:id="R60b80364d078446a"/>
    <p:sldId xmlns:r="http://schemas.openxmlformats.org/officeDocument/2006/relationships" id="258" r:id="R660edafc0c6f4b5e"/>
    <p:sldId xmlns:r="http://schemas.openxmlformats.org/officeDocument/2006/relationships" id="259" r:id="R9db3839099b14605"/>
    <p:sldId xmlns:r="http://schemas.openxmlformats.org/officeDocument/2006/relationships" id="260" r:id="R79c08083b0f54df2"/>
    <p:sldId xmlns:r="http://schemas.openxmlformats.org/officeDocument/2006/relationships" id="261" r:id="R2796f481386946a2"/>
    <p:sldId xmlns:r="http://schemas.openxmlformats.org/officeDocument/2006/relationships" id="262" r:id="R3cd7395d65e34415"/>
    <p:sldId xmlns:r="http://schemas.openxmlformats.org/officeDocument/2006/relationships" id="263" r:id="R98ef7504046d42d6"/>
    <p:sldId xmlns:r="http://schemas.openxmlformats.org/officeDocument/2006/relationships" id="264" r:id="Rf20c9369d4264a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bae19521074b1e" /><Relationship Type="http://schemas.openxmlformats.org/officeDocument/2006/relationships/slideMaster" Target="/ppt/slideMasters/slideMaster1.xml" Id="R024e1499675d4e11" /><Relationship Type="http://schemas.openxmlformats.org/officeDocument/2006/relationships/notesMaster" Target="/ppt/notesMasters/notesMaster1.xml" Id="Rb59187baa5b4421d" /><Relationship Type="http://schemas.openxmlformats.org/officeDocument/2006/relationships/presProps" Target="/ppt/presProps.xml" Id="Ra310107882864ea9" /><Relationship Type="http://schemas.openxmlformats.org/officeDocument/2006/relationships/viewProps" Target="/ppt/viewProps.xml" Id="R36c071a54bc841a1" /><Relationship Type="http://schemas.openxmlformats.org/officeDocument/2006/relationships/tableStyles" Target="/ppt/tableStyles.xml" Id="R928e5b212a384a14" /><Relationship Type="http://schemas.openxmlformats.org/officeDocument/2006/relationships/slide" Target="/ppt/slides/slide1.xml" Id="Rd0a749431b5f4d9e" /><Relationship Type="http://schemas.openxmlformats.org/officeDocument/2006/relationships/slide" Target="/ppt/slides/slide2.xml" Id="R60b80364d078446a" /><Relationship Type="http://schemas.openxmlformats.org/officeDocument/2006/relationships/slide" Target="/ppt/slides/slide3.xml" Id="R660edafc0c6f4b5e" /><Relationship Type="http://schemas.openxmlformats.org/officeDocument/2006/relationships/slide" Target="/ppt/slides/slide4.xml" Id="R9db3839099b14605" /><Relationship Type="http://schemas.openxmlformats.org/officeDocument/2006/relationships/slide" Target="/ppt/slides/slide5.xml" Id="R79c08083b0f54df2" /><Relationship Type="http://schemas.openxmlformats.org/officeDocument/2006/relationships/slide" Target="/ppt/slides/slide6.xml" Id="R2796f481386946a2" /><Relationship Type="http://schemas.openxmlformats.org/officeDocument/2006/relationships/slide" Target="/ppt/slides/slide7.xml" Id="R3cd7395d65e34415" /><Relationship Type="http://schemas.openxmlformats.org/officeDocument/2006/relationships/slide" Target="/ppt/slides/slide8.xml" Id="R98ef7504046d42d6" /><Relationship Type="http://schemas.openxmlformats.org/officeDocument/2006/relationships/slide" Target="/ppt/slides/slide9.xml" Id="Rf20c9369d4264a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528d9a0fcb4f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80ea3f06ed4b7a" /><Relationship Type="http://schemas.openxmlformats.org/officeDocument/2006/relationships/notesMaster" Target="/ppt/notesMasters/notesMaster1.xml" Id="R38ef2310ae8447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1d1b891eda4eee" /><Relationship Type="http://schemas.openxmlformats.org/officeDocument/2006/relationships/notesMaster" Target="/ppt/notesMasters/notesMaster1.xml" Id="R7e39941966f94d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89a90207094dc9" /><Relationship Type="http://schemas.openxmlformats.org/officeDocument/2006/relationships/notesMaster" Target="/ppt/notesMasters/notesMaster1.xml" Id="R735a493c1aae4a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a548cfc81e4d87" /><Relationship Type="http://schemas.openxmlformats.org/officeDocument/2006/relationships/notesMaster" Target="/ppt/notesMasters/notesMaster1.xml" Id="Rbec37ebe068247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9a0fad41a54949" /><Relationship Type="http://schemas.openxmlformats.org/officeDocument/2006/relationships/notesMaster" Target="/ppt/notesMasters/notesMaster1.xml" Id="R91b0a085f6fc4a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07345730c54c3f" /><Relationship Type="http://schemas.openxmlformats.org/officeDocument/2006/relationships/notesMaster" Target="/ppt/notesMasters/notesMaster1.xml" Id="R11abf9de22e5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a5b2f9ac094f5b" /><Relationship Type="http://schemas.openxmlformats.org/officeDocument/2006/relationships/notesMaster" Target="/ppt/notesMasters/notesMaster1.xml" Id="R8078e4c271fd46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7e1f685e004b67" /><Relationship Type="http://schemas.openxmlformats.org/officeDocument/2006/relationships/notesMaster" Target="/ppt/notesMasters/notesMaster1.xml" Id="R26ab6d4e9a7541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9472758f2c47b0" /><Relationship Type="http://schemas.openxmlformats.org/officeDocument/2006/relationships/notesMaster" Target="/ppt/notesMasters/notesMaster1.xml" Id="R20d2f130d46947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 working appointment-coordination MVP and a controlled evaluation of the parameters that shape turn timing, behavior, and voice delivery.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LiveKit provides orchestration and WebRTC transport; the three teal model boxes are Smallest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https://docs.smallest.ai/models/integrations/agent-framework/live-kit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frozen submitted settings. The parameter families were swept sequentially so model layers were not confounded.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results/evaluations/electron-parameter-comparison.md</a:t>
            </a:r>
          </a:p>
          <a:p xmlns:a="http://schemas.openxmlformats.org/drawingml/2006/main">
            <a:r>
              <a:t>- results/evaluations/lightning-parameter-comparison.md</a:t>
            </a:r>
          </a:p>
          <a:p xmlns:a="http://schemas.openxmlformats.org/drawingml/2006/main">
            <a:r>
              <a:t>- https://docs.smallest.ai/models/documentation/llm-electron/supported-parameters</a:t>
            </a:r>
          </a:p>
          <a:p xmlns:a="http://schemas.openxmlformats.org/drawingml/2006/main">
            <a:r>
              <a:t>- https://docs.smallest.ai/models/documentation/text-to-speech-lightning/quickstart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the distinction: a Pulse final is stable transcript text; LiveKit still decides whether the user's full turn is complete.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https://docs.smallest.ai/models/documentation/speech-to-text-pulse/features/endpointing</a:t>
            </a:r>
          </a:p>
          <a:p xmlns:a="http://schemas.openxmlformats.org/drawingml/2006/main">
            <a:r>
              <a:t>- https://docs.livekit.io/agents/logic/turns/tuning/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medians from the final human call. The values include the client, network, provider, and orchestration path, so do not present them as provider-only benchmarks.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results/evaluations/mvp-final-acceptance.md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R1 and R2 isolate LiveKit's maximum endpointing delay. R2 versus R3 changes Pulse mode and timeout together, so R3 is a documented strategy test rather than a single-parameter causal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results/evaluations/r1-r2-r3-recorded-comparison.md</a:t>
            </a:r>
          </a:p>
          <a:p xmlns:a="http://schemas.openxmlformats.org/drawingml/2006/main">
            <a:r>
              <a:t>- results/evaluations/pulse-wer-summary.md</a:t>
            </a:r>
          </a:p>
          <a:p xmlns:a="http://schemas.openxmlformats.org/drawingml/2006/main">
            <a:r>
              <a:t>- https://docs.smallest.ai/models/documentation/speech-to-text-pulse/features/endpointing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deliberately honest failure modes. Each observation either changed the code/configuration or produced a clearly bounded production follow-up.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results/evaluations/r1-r2-r3-recorded-comparison.md</a:t>
            </a:r>
          </a:p>
          <a:p xmlns:a="http://schemas.openxmlformats.org/drawingml/2006/main">
            <a:r>
              <a:t>- results/evaluations/mvp-final-acceptance.md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next work is not another broad parameter sweep. It is production hardening where the MVP evidence is weakest: stale tool state, acoustics, telephony, real persistence, and wider samples.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results/evaluations/mvp-final-acceptance.md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decision and the discipline behind it: reproducible comparisons, explicit evidence limits, and a configuration selected for this bounded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results/evaluations/r1-r2-r3-recorded-comparison.md</a:t>
            </a:r>
          </a:p>
          <a:p xmlns:a="http://schemas.openxmlformats.org/drawingml/2006/main">
            <a:r>
              <a:t>- results/evaluations/pulse-wer-summary.md</a:t>
            </a:r>
          </a:p>
          <a:p xmlns:a="http://schemas.openxmlformats.org/drawingml/2006/main">
            <a:r>
              <a:t>- results/evaluations/electron-parameter-comparison.md</a:t>
            </a:r>
          </a:p>
          <a:p xmlns:a="http://schemas.openxmlformats.org/drawingml/2006/main">
            <a:r>
              <a:t>- results/evaluations/lightning-parameter-comparison.md</a:t>
            </a:r>
          </a:p>
          <a:p xmlns:a="http://schemas.openxmlformats.org/drawingml/2006/main">
            <a:r>
              <a:t>- results/evaluations/mvp-final-acceptance.md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b9d8d805641c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84cfb6b7a74acf" /><Relationship Type="http://schemas.openxmlformats.org/officeDocument/2006/relationships/slideLayout" Target="/ppt/slideLayouts/slideLayout1.xml" Id="Re2d07c299260407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d07c299260407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7d777729340d0" /><Relationship Type="http://schemas.openxmlformats.org/officeDocument/2006/relationships/notesSlide" Target="/ppt/notesSlides/notesSlide1.xml" Id="R1a9c1458adb844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7bc9210344c01" /><Relationship Type="http://schemas.openxmlformats.org/officeDocument/2006/relationships/notesSlide" Target="/ppt/notesSlides/notesSlide2.xml" Id="Rdadf1d63005f4d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44ab7fd894fae" /><Relationship Type="http://schemas.openxmlformats.org/officeDocument/2006/relationships/notesSlide" Target="/ppt/notesSlides/notesSlide3.xml" Id="R2b9876bd9e7142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0247004914ae3" /><Relationship Type="http://schemas.openxmlformats.org/officeDocument/2006/relationships/notesSlide" Target="/ppt/notesSlides/notesSlide4.xml" Id="Rdb37fff3b3e148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b9509810d4b2d" /><Relationship Type="http://schemas.openxmlformats.org/officeDocument/2006/relationships/notesSlide" Target="/ppt/notesSlides/notesSlide5.xml" Id="Rc2422d78214e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58ad10f4f46e3" /><Relationship Type="http://schemas.openxmlformats.org/officeDocument/2006/relationships/notesSlide" Target="/ppt/notesSlides/notesSlide6.xml" Id="R2f75e00b411340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c0b70524b4734" /><Relationship Type="http://schemas.openxmlformats.org/officeDocument/2006/relationships/notesSlide" Target="/ppt/notesSlides/notesSlide7.xml" Id="Ra5f06788cf9641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36c185ba641fc" /><Relationship Type="http://schemas.openxmlformats.org/officeDocument/2006/relationships/notesSlide" Target="/ppt/notesSlides/notesSlide8.xml" Id="R561320a183114b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2ea3793a1451a" /><Relationship Type="http://schemas.openxmlformats.org/officeDocument/2006/relationships/notesSlide" Target="/ppt/notesSlides/notesSlide9.xml" Id="Rc0c3929d737a4e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8D3A257-E9B2-4742-954F-827E66DC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1091153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Voice Agent on Smallest’s Stack</a:t>
            </a:r>
            <a:endParaRPr sz="4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AD02892-381C-4618-A164-ADD7615B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37560"/>
            <a:ext cx="109115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4A096"/>
                </a:solidFill>
                <a:latin typeface="Arial"/>
                <a:ea typeface="Arial"/>
                <a:cs typeface="Arial"/>
              </a:rPr>
              <a:t>Pulse</a:t>
            </a:r>
            <a:r>
              <a:rPr sz="1800">
                <a:solidFill>
                  <a:srgbClr val="9CA3AF"/>
                </a:solidFill>
                <a:latin typeface="Arial"/>
                <a:ea typeface="Arial"/>
                <a:cs typeface="Arial"/>
              </a:rPr>
              <a:t> (STT), </a:t>
            </a:r>
            <a:r>
              <a:rPr sz="1800" b="1">
                <a:solidFill>
                  <a:srgbClr val="14A096"/>
                </a:solidFill>
                <a:latin typeface="Arial"/>
                <a:ea typeface="Arial"/>
                <a:cs typeface="Arial"/>
              </a:rPr>
              <a:t>Electron</a:t>
            </a:r>
            <a:r>
              <a:rPr sz="1800">
                <a:solidFill>
                  <a:srgbClr val="9CA3AF"/>
                </a:solidFill>
                <a:latin typeface="Arial"/>
                <a:ea typeface="Arial"/>
                <a:cs typeface="Arial"/>
              </a:rPr>
              <a:t> (SLM), </a:t>
            </a:r>
            <a:r>
              <a:rPr sz="1800" b="1">
                <a:solidFill>
                  <a:srgbClr val="14A096"/>
                </a:solidFill>
                <a:latin typeface="Arial"/>
                <a:ea typeface="Arial"/>
                <a:cs typeface="Arial"/>
              </a:rPr>
              <a:t>Lightning v3.1 Pro</a:t>
            </a:r>
            <a:r>
              <a:rPr sz="1800">
                <a:solidFill>
                  <a:srgbClr val="14A096"/>
                </a:solidFill>
                <a:latin typeface="Arial"/>
                <a:ea typeface="Arial"/>
                <a:cs typeface="Arial"/>
              </a:rPr>
              <a:t> </a:t>
            </a:r>
            <a:r>
              <a:rPr sz="1800">
                <a:solidFill>
                  <a:srgbClr val="9CA3AF"/>
                </a:solidFill>
                <a:latin typeface="Arial"/>
                <a:ea typeface="Arial"/>
                <a:cs typeface="Arial"/>
              </a:rPr>
              <a:t>(TTS) on </a:t>
            </a:r>
            <a:r>
              <a:rPr sz="1800" b="1">
                <a:solidFill>
                  <a:srgbClr val="14A096"/>
                </a:solidFill>
                <a:latin typeface="Arial"/>
                <a:ea typeface="Arial"/>
                <a:cs typeface="Arial"/>
              </a:rPr>
              <a:t>LiveKit</a:t>
            </a:r>
            <a:endParaRPr sz="1800">
              <a:solidFill>
                <a:srgbClr val="14A096"/>
              </a:solidFill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AC342B3-AC04-4AD5-B45A-722BE9E8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1091153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9CA3AF"/>
                </a:solidFill>
                <a:latin typeface="Arial"/>
                <a:ea typeface="Arial"/>
                <a:cs typeface="Arial"/>
              </a:rPr>
              <a:t>Working MVP and controlled evaluation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EECD1E7-DB77-4E61-8444-55677879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52160"/>
            <a:ext cx="1091153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Akshita Garg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714301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30CD74-8CDF-4264-9F6A-88BACF4C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 working end-to-end voice agent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F21C9F-1F39-4630-9F9F-513BF373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02</a:t>
            </a:r>
            <a:endParaRPr sz="1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1D96A16-2AC0-4556-B602-ED9E51E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466344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5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“Aisha”, a clinic appointment coordinator.</a:t>
            </a:r>
            <a:endParaRPr sz="1550"/>
          </a:p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5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Listens, checks availability, and books a slot, in real time.</a:t>
            </a:r>
            <a:endParaRPr sz="1550"/>
          </a:p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80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endParaRPr sz="1550"/>
          </a:p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550">
                <a:solidFill>
                  <a:srgbClr val="6B7280"/>
                </a:solidFill>
                <a:latin typeface="Arial"/>
                <a:ea typeface="Arial"/>
                <a:cs typeface="Arial"/>
              </a:rPr>
              <a:t>Built on Smallest’s Pulse, Electron and Lightning v3.1 Pro, orchestrated with LiveKit over WebRTC.</a:t>
            </a:r>
            <a:endParaRPr sz="1550"/>
          </a:p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80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endParaRPr sz="1550"/>
          </a:p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550">
                <a:solidFill>
                  <a:srgbClr val="6B7280"/>
                </a:solidFill>
                <a:latin typeface="Arial"/>
                <a:ea typeface="Arial"/>
                <a:cs typeface="Arial"/>
              </a:rPr>
              <a:t>Deliberately narrow: administrative appointments only. It refuses medical advice.</a:t>
            </a:r>
            <a:endParaRPr sz="15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C41FF4A-72BC-4299-97EB-989B2EB2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737360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BF695CC-A997-4926-96AF-84A8D6E9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737360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Mic / WebRTC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0FE9360-D692-4F6F-BFBE-1443DEE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286000"/>
            <a:ext cx="0" cy="2377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F047227-DEF3-4E41-90CB-5CD76B3A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523744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A0B041D-47B3-4147-B82B-05D25689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523744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Silero VAD</a:t>
            </a:r>
            <a:endParaRPr sz="15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76C46CA-48AF-4ACC-B38D-E4220A23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3072384"/>
            <a:ext cx="0" cy="2377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F5C9BD1-ED61-450E-872A-44AC932A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10128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5E8E5"/>
          </a:solidFill>
          <a:ln xmlns:a="http://schemas.openxmlformats.org/drawingml/2006/main" w="15875">
            <a:solidFill>
              <a:srgbClr val="0F766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25CA354-8D2E-4E62-8AC5-457B7AC8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10128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Pulse · STT</a:t>
            </a:r>
            <a:endParaRPr sz="15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6A8F618-4231-4725-8DFF-3F51DED3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3858768"/>
            <a:ext cx="0" cy="2377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A34C441-C8E3-4027-AB08-7F4FDEF3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096512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5E8E5"/>
          </a:solidFill>
          <a:ln xmlns:a="http://schemas.openxmlformats.org/drawingml/2006/main" w="15875">
            <a:solidFill>
              <a:srgbClr val="0F766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18FAA80-5FBA-4FBF-979B-753FEDF2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096512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Electron · SLM</a:t>
            </a:r>
            <a:endParaRPr sz="15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F7946B4-5AC6-49C5-B765-EC8D56D0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645152"/>
            <a:ext cx="0" cy="2377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56B0BC5-1749-445A-81F4-E11EC4F8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882896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5E8E5"/>
          </a:solidFill>
          <a:ln xmlns:a="http://schemas.openxmlformats.org/drawingml/2006/main" w="15875">
            <a:solidFill>
              <a:srgbClr val="0F766E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B601F9B-6B7C-46BA-90A0-80E5E136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882896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Lightning · TTS</a:t>
            </a:r>
            <a:endParaRPr sz="15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C5E1EF0-88AA-4BD1-9F6F-996E9523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5431536"/>
            <a:ext cx="0" cy="2377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48AD0FB-69F3-4166-8F71-AC8B3D81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669280"/>
            <a:ext cx="5394960" cy="5486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54423E8-913D-4599-8258-FC29CBBC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669280"/>
            <a:ext cx="5394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Speaker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20383545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E42FAEA-640A-4025-8400-109BCDEC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Final stack, tuned one layer at a time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DB44F3-40A3-4CC0-BB10-92B8BEAA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03</a:t>
            </a:r>
            <a:endParaRPr sz="10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3984280-F7ED-4BF5-B092-03137FBC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393338" cy="233172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87C411E-273E-456E-A575-4BE7521E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0552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Pulse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EFB03ED-2C31-4708-AC74-55714A83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4328"/>
            <a:ext cx="284469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Speech-to-text</a:t>
            </a:r>
            <a:endParaRPr sz="12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C4E173-F64D-4106-81B3-9442822B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4952"/>
            <a:ext cx="284469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English · 16 kHz PCM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endpointing on · EOU 100 ms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18 fixed-audio calls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0DE2386-C668-4281-9EE6-3E8473F9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1874520"/>
            <a:ext cx="3393338" cy="233172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6976386-AA49-4079-A463-3A8855D8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130552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Electron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E1E5F8-061F-4987-A6F8-52E4E7EC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624328"/>
            <a:ext cx="284469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Small language model</a:t>
            </a:r>
            <a:endParaRPr sz="12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F0094C2-7158-4009-94E6-F8D3EB7E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044952"/>
            <a:ext cx="284469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temperature 0.0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max 80 tokens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18 / 18 selected cases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23BBC80-608C-42AC-A61E-5433BBAE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7" y="1874520"/>
            <a:ext cx="3393338" cy="233172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68B47BA-EDBE-4567-BC07-71B6D668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2130552"/>
            <a:ext cx="284469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Lightning v3.1 Pro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284B4A-B6FA-46DF-BD12-824ECEB5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2624328"/>
            <a:ext cx="284469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Text-to-speech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E63D7AD-D69C-4A6B-8884-461CA8A5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3044952"/>
            <a:ext cx="284469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voice “meher” · 24 kHz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speed 1.0 · buffer 0 ms</a:t>
            </a:r>
            <a:endParaRPr sz="1200"/>
          </a:p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200">
                <a:solidFill>
                  <a:srgbClr val="111827"/>
                </a:solidFill>
                <a:latin typeface="Courier New"/>
                <a:ea typeface="Courier New"/>
                <a:cs typeface="Courier New"/>
              </a:rPr>
              <a:t>24 / 24 syntheses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BB6DFC-F161-4829-B5F5-6E8DF2F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109115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Orchestration:  </a:t>
            </a:r>
            <a:r>
              <a:rPr sz="145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LiveKit Agents over WebRTC, with turn-detector-v1 for semantic turn protection and Silero VAD for speech detection.</a:t>
            </a:r>
            <a:endParaRPr sz="1450"/>
          </a:p>
        </p:txBody>
      </p:sp>
    </p:spTree>
    <p:extLst>
      <p:ext uri="{BB962C8B-B14F-4D97-AF65-F5344CB8AC3E}">
        <p14:creationId xmlns:p14="http://schemas.microsoft.com/office/powerpoint/2010/main" val="8181564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DB43F-3889-4035-AEE5-98571370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Knowing when to listen, and when to speak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784B10B-76DD-4F07-9EFA-AD5F1471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04</a:t>
            </a:r>
            <a:endParaRPr sz="10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25D55A-57A3-47E0-8C6B-2C0BD9FE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84048" cy="384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FC171EC-ACA5-4F4A-8441-F61FD238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06422D-7037-4509-B1AB-30022AC1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856232"/>
            <a:ext cx="103171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Two detectors, two jobs</a:t>
            </a:r>
            <a:endParaRPr sz="17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4C4E6E0-A883-41EE-96FB-544350B3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258568"/>
            <a:ext cx="1031717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Silero VAD marks speech vs silence (550 ms min silence). LiveKit turn-detector-v1 decides, semantically, whether the thought is actually complete.</a:t>
            </a:r>
            <a:endParaRPr sz="13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BC4884D-D332-4801-A6DE-C04C02B6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55848"/>
            <a:ext cx="384048" cy="384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BB0E248-1D74-4234-BF8E-E5068FE4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5584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70A3EA4-2C6D-4D0D-B6C3-1B28F68F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37560"/>
            <a:ext cx="103171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 Pulse “final” is not a turn</a:t>
            </a:r>
            <a:endParaRPr sz="1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00D91C9-DB46-4DA4-B9FD-CD4DD99A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1031717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Pulse emitting is_final is stable text, not permission to respond. LiveKit separately commits the turn; several Pulse finals can be one user turn. Keeping these separate is what prevents premature replies.</a:t>
            </a:r>
            <a:endParaRPr sz="13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838E561-8114-4A41-BF4C-3326CF68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37176"/>
            <a:ext cx="384048" cy="38404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D33B727-14B3-4C81-8A99-1AFB3991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371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287C89-CAF8-4397-A869-A66DC5B8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18888"/>
            <a:ext cx="1031717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Barge-in</a:t>
            </a:r>
            <a:endParaRPr sz="17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6233335-578D-47AB-82C7-A9346BC4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221224"/>
            <a:ext cx="1031717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user can interrupt after 0.2 s; LiveKit cancels speech and re-listens. Pulse supports explicit force-finalize, but the official adapter exposes no public trigger, so the MVP retained native endpointing.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9183606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257376-B8AD-4283-929F-D1E86B55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Final call: responsive, correct and complete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035AAC2-52D8-4826-BA17-4F3FEDF2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05</a:t>
            </a:r>
            <a:endParaRPr sz="10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7D014B-43BA-4FA5-AA08-A0C09895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3393338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FA0C52B-CCDE-442D-96B0-E618A796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316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0.85 s</a:t>
            </a:r>
            <a:endParaRPr sz="4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8A5820A-357C-4AD7-89E8-E30EA6A0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3552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EOU delay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5B0F75D-2554-4A5A-9D2E-EE20B8E0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4448"/>
            <a:ext cx="284469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Arial"/>
                <a:ea typeface="Arial"/>
                <a:cs typeface="Arial"/>
              </a:rPr>
              <a:t>p95 3.01 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691393F-C803-433E-8837-A74FF0C4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2103120"/>
            <a:ext cx="3393338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386A767-A80B-490B-B4B2-BDFDA688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42316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0.34 s</a:t>
            </a:r>
            <a:endParaRPr sz="4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901E2A7-9A5E-43E5-8E67-F067C3FB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273552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Electron TTFT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FFC53EE-4D6A-4786-B8C0-9F0C2591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584448"/>
            <a:ext cx="284469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Arial"/>
                <a:ea typeface="Arial"/>
                <a:cs typeface="Arial"/>
              </a:rPr>
              <a:t>p95 0.61 s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69E2923-47D1-4308-B776-48301996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277" y="2103120"/>
            <a:ext cx="3393338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B8E115C-34B3-41CA-8619-3C008254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2423160"/>
            <a:ext cx="2844698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0.29 s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58E48F4-E0CA-4D9F-91DB-02C88C0C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3273552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Lightning TTFB</a:t>
            </a:r>
            <a:endParaRPr sz="15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4A30B65-B801-4210-BF58-E2318FE0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597" y="3584448"/>
            <a:ext cx="284469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B7280"/>
                </a:solidFill>
                <a:latin typeface="Arial"/>
                <a:ea typeface="Arial"/>
                <a:cs typeface="Arial"/>
              </a:rPr>
              <a:t>p95 0.43 s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E2460CE-63CA-4AEF-9A62-1FCA8039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Final human call, median. Six and nine digits were rejected, ten were accepted, and the booking completed with zero application errors.</a:t>
            </a:r>
            <a:r>
              <a:rPr sz="13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  </a:t>
            </a:r>
            <a:r>
              <a:rPr sz="1300">
                <a:solidFill>
                  <a:srgbClr val="6B7280"/>
                </a:solidFill>
                <a:latin typeface="Arial"/>
                <a:ea typeface="Arial"/>
                <a:cs typeface="Arial"/>
              </a:rPr>
              <a:t>Timings include network and orchestration; they are not provider benchmarks.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262073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252F0C-0A64-4E01-9B82-9087D25E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R2 balanced hesitation protection and response speed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CDFFC73-50B9-480F-9603-331C25EE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06</a:t>
            </a:r>
            <a:endParaRPr sz="10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0530503-97D7-45DC-A205-F6FFC8A8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27168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12700">
            <a:solidFill>
              <a:srgbClr val="E5E7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83E8970-DB2D-42EC-B74D-F0AF61D6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0552"/>
            <a:ext cx="46785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R1   baseline · max 1.50 s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83DAF68-F874-4D91-857A-80576FD7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1874520"/>
            <a:ext cx="5227168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5E8E5"/>
          </a:solidFill>
          <a:ln xmlns:a="http://schemas.openxmlformats.org/drawingml/2006/main" w="15875">
            <a:solidFill>
              <a:srgbClr val="0F766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603DA86-817B-4ADA-8385-AEDEBE1D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768" y="2130552"/>
            <a:ext cx="46785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R2   selected · max 3.00 s</a:t>
            </a:r>
            <a:endParaRPr sz="2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AFF415C-9582-4A9E-81F9-3335157C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109115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6B7280"/>
                </a:solidFill>
                <a:latin typeface="Arial"/>
                <a:ea typeface="Arial"/>
                <a:cs typeface="Arial"/>
              </a:rPr>
              <a:t>Same three recordings, two repetitions per configuration: 18 controlled calls. Timeout-only R3 results are shown in the final column.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6941392-8C6B-4CF0-85E2-334D8C87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47288"/>
            <a:ext cx="1091153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7ACC276-6C84-4016-AC42-AD60EC02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74720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Committed user turns (6 calls)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E659CBF-3495-4956-BC21-472F40A3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74720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11</a:t>
            </a:r>
            <a:endParaRPr sz="13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C3F5542-E9AC-4F00-A3E2-6650B537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474720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9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7E1F55D-6314-4FCE-A250-FCA559F5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474720"/>
            <a:ext cx="30476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R3   8 turns</a:t>
            </a:r>
            <a:endParaRPr sz="12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90D194A-DF45-46A6-9789-322DAB3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50208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Clean-request mean EOU delay</a:t>
            </a:r>
            <a:endParaRPr sz="13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0700364-A765-4DE7-A76A-959BB532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50208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0.823 s</a:t>
            </a:r>
            <a:endParaRPr sz="13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25A1586-0BE4-4BD4-A5A0-0AE477B7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50208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0.844 s</a:t>
            </a:r>
            <a:endParaRPr sz="13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AF45821-FB96-4DDB-BC05-5BB740EC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950208"/>
            <a:ext cx="30476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R3   2.660 s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0EC898A-AD35-420D-BD8C-F7E2F414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98264"/>
            <a:ext cx="1091153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0435F71-6200-4752-8CA1-EF28C41D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25696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Correct availability tool calls</a:t>
            </a:r>
            <a:endParaRPr sz="13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67564B3-6901-41F5-8578-D494D69B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425696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4 / 4</a:t>
            </a:r>
            <a:endParaRPr sz="13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D7EF6E8-A443-4275-8851-2FB9741F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425696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4 / 4</a:t>
            </a:r>
            <a:endParaRPr sz="13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8D2E3BF-3C68-4F0D-889A-754ED1E4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425696"/>
            <a:ext cx="30476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R3   4 / 4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3012F54-05E9-4372-9CB5-4A39BF81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01184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Details fixture (1.5 s pause)</a:t>
            </a:r>
            <a:endParaRPr sz="13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69FB30B-D041-42B2-A75B-CFA176FF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90118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3 turns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3112B2B-6E9B-451E-BEF9-B7352943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90118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0F766E"/>
                </a:solidFill>
                <a:latin typeface="Courier New"/>
                <a:ea typeface="Courier New"/>
                <a:cs typeface="Courier New"/>
              </a:rPr>
              <a:t>2 turns</a:t>
            </a:r>
            <a:endParaRPr sz="13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AED3052-0473-4A77-AA8E-D4848AD5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901184"/>
            <a:ext cx="30476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6B7280"/>
                </a:solidFill>
                <a:latin typeface="Arial"/>
                <a:ea typeface="Arial"/>
                <a:cs typeface="Arial"/>
              </a:rPr>
              <a:t>R3   2 turns</a:t>
            </a:r>
            <a:endParaRPr sz="12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6D32594-9249-4D61-BD9C-1729E2A7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13832"/>
            <a:ext cx="1091153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Decision:</a:t>
            </a: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  </a:t>
            </a: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R2. R3 grouped more aggressively but added ~1.8 s versus R2 on clean turns. Overall normalized WER was 2.70% on 222 reference words; descriptive, not causal.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136659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5DC4664-42F2-4B2B-B630-1A52BBC5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Each failure became a bounded engineering response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DF863A-B062-4F3F-A359-B889BC1D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07</a:t>
            </a:r>
            <a:endParaRPr sz="1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1D2C7A8-9009-4C35-A89E-C88D9BA1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Observed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1A1A6AD-32CE-4E22-866B-D7DBCDBE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828800"/>
            <a:ext cx="53336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Response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22733B-7E86-4717-9344-8589CEE6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5120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 A 1.5 s thinking pause split one details request into three turns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443FCA6-DB19-4440-9D2A-93B8FCCF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31720"/>
            <a:ext cx="533369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•  Raised LiveKit max delay 1.5 → 3.0 s: three turns became two while clean latency held</a:t>
            </a:r>
            <a:endParaRPr sz="13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54F9444-DBA1-4804-942B-DADA1D35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5120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 The caller supplied incomplete six- and nine-digit phone numbers</a:t>
            </a:r>
            <a:endParaRPr sz="13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EC50613-0516-4561-BC5F-932EC5EC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566160"/>
            <a:ext cx="533369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•  A deterministic validator counted received vs required digits; booking revalidated before write</a:t>
            </a:r>
            <a:endParaRPr sz="13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D0B1F7D-5B86-4C53-B89E-7F223E64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5120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11827"/>
                </a:solidFill>
                <a:latin typeface="Arial"/>
                <a:ea typeface="Arial"/>
                <a:cs typeface="Arial"/>
              </a:rPr>
              <a:t>•  The final call produced a false interruption and captured Aisha’s own words as user audio</a:t>
            </a:r>
            <a:endParaRPr sz="13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AC556A-DCB5-4471-B973-F0817607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800600"/>
            <a:ext cx="533369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•  The agent recovered; evidence suggests local echo, but packet loss and jitter were not captured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804087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6F179E-90AC-481D-8E52-B0944558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What moves this MVP toward production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048FC5-6FA1-4C55-A54E-8A81161B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35508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08</a:t>
            </a:r>
            <a:endParaRPr sz="1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3055C5E-ABFA-47C0-9089-7A6E84ED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7863840" cy="402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Protect corrections during tool use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Cancel or suppress an in-flight availability result when the caller changes the requested date.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70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Harden the acoustic path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Compare voice isolation, echo cancellation, headsets and devices; add WebRTC packet-loss and jitter logging.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70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Add telephony, real scheduling and scale</a:t>
            </a:r>
            <a:endParaRPr sz="16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1350">
                <a:solidFill>
                  <a:srgbClr val="6B7280"/>
                </a:solidFill>
                <a:latin typeface="Arial"/>
                <a:ea typeface="Arial"/>
                <a:cs typeface="Arial"/>
              </a:rPr>
              <a:t>Repeat at 8 kHz over SIP, replace the in-memory calendar with a transactional backend, and expand speakers, accents, noise and repetitions.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857406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498EF89-87FE-485B-90B2-CDF29F29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443"/>
            <a:ext cx="1091153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 MVP decision backed by reproducible evidence</a:t>
            </a:r>
            <a:endParaRPr sz="3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E1E80D3-3D35-447D-AB0A-AA6EB6EC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0911535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500">
                <a:solidFill>
                  <a:srgbClr val="D1D5DB"/>
                </a:solidFill>
                <a:latin typeface="Arial"/>
                <a:ea typeface="Arial"/>
                <a:cs typeface="Arial"/>
              </a:rPr>
              <a:t>•  Turn taking: 18 fixed-audio calls across R1/R2/R3; 222 reference words; 2.70% normalized WER</a:t>
            </a:r>
            <a:endParaRPr sz="1500"/>
          </a:p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500">
                <a:solidFill>
                  <a:srgbClr val="D1D5DB"/>
                </a:solidFill>
                <a:latin typeface="Arial"/>
                <a:ea typeface="Arial"/>
                <a:cs typeface="Arial"/>
              </a:rPr>
              <a:t>•  Model sweeps: 72 Electron requests and 24 Lightning syntheses; every scripted request succeeded</a:t>
            </a:r>
            <a:endParaRPr sz="1500"/>
          </a:p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500">
                <a:solidFill>
                  <a:srgbClr val="D1D5DB"/>
                </a:solidFill>
                <a:latin typeface="Arial"/>
                <a:ea typeface="Arial"/>
                <a:cs typeface="Arial"/>
              </a:rPr>
              <a:t>•  Final acceptance: relative date, tools, phone recovery and booking passed with zero application errors</a:t>
            </a:r>
            <a:endParaRPr sz="1500"/>
          </a:p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500">
                <a:solidFill>
                  <a:srgbClr val="D1D5DB"/>
                </a:solidFill>
                <a:latin typeface="Arial"/>
                <a:ea typeface="Arial"/>
                <a:cs typeface="Arial"/>
              </a:rPr>
              <a:t>•  Verification: 26 automated tests and code-quality checks passed; sensitive raw calls stay out of Git</a:t>
            </a:r>
            <a:endParaRPr sz="1500"/>
          </a:p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500">
                <a:solidFill>
                  <a:srgbClr val="0F766E"/>
                </a:solidFill>
                <a:latin typeface="Arial"/>
                <a:ea typeface="Arial"/>
                <a:cs typeface="Arial"/>
              </a:rPr>
              <a:t>•  Decision: R2 / E3 / L1 is the strongest tested configuration—not a claim of universal optimality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6209984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2026-09-04T15:57:45.2360000Z</dcterms:created>
  <dcterms:modified xsi:type="dcterms:W3CDTF">2026-09-04T15:57:45.2360000Z</dcterms:modified>
</coreProperties>
</file>