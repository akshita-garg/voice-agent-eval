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  <a:srgbClr val="DBEAFE"/>
    <a:srgbClr val="60A5FA"/>
    <a:srgbClr val="C8F8F5"/>
    <a:srgbClr val="107E76"/>
    <a:srgbClr val="0D6761"/>
    <a:srgbClr val="DDDDDD"/>
    <a:srgbClr val="F5F5F5"/>
    <a:srgbClr val="FFFFFF"/>
    <a:srgbClr val="F3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450" autoAdjust="0"/>
  </p:normalViewPr>
  <p:slideViewPr>
    <p:cSldViewPr snapToGrid="0" snapToObjects="1">
      <p:cViewPr varScale="1">
        <p:scale>
          <a:sx n="72" d="100"/>
          <a:sy n="72" d="100"/>
        </p:scale>
        <p:origin x="35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outcome: a working appointment-coordination MVP and a controlled evaluation of the parameters that shape turn timing, behavior, and voice delivery.</a:t>
            </a:r>
          </a:p>
          <a:p>
            <a:endParaRPr/>
          </a:p>
          <a:p>
            <a:r>
              <a:t>[Sources]</a:t>
            </a:r>
          </a:p>
          <a:p>
            <a:r>
              <a:t>- docs/final-report.md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5CD94-8425-6FFF-6094-3A10AC05F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EEDB4-521E-E21F-3CE8-D9CEC1E1B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223B5-875C-D57B-0ABF-52DEFB8FA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LiveKit</a:t>
            </a:r>
            <a:r>
              <a:rPr dirty="0"/>
              <a:t> provides orchestration and WebRTC transport.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docs/final-report.md</a:t>
            </a:r>
          </a:p>
          <a:p>
            <a:r>
              <a:rPr dirty="0"/>
              <a:t>- https://docs.smallest.ai/models/integrations/agent-framework/live-kit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C7AD1-50AA-5688-4E53-05C1BCB8EB8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9833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the frozen submitted settings. The parameter families were swept sequentially so model layers were not confounded.</a:t>
            </a:r>
          </a:p>
          <a:p>
            <a:endParaRPr/>
          </a:p>
          <a:p>
            <a:r>
              <a:t>[Sources]</a:t>
            </a:r>
          </a:p>
          <a:p>
            <a:r>
              <a:t>- docs/final-report.md</a:t>
            </a:r>
          </a:p>
          <a:p>
            <a:r>
              <a:t>- results/evaluations/electron-parameter-comparison.md</a:t>
            </a:r>
          </a:p>
          <a:p>
            <a:r>
              <a:t>- results/evaluations/lightning-parameter-comparison.md</a:t>
            </a:r>
          </a:p>
          <a:p>
            <a:r>
              <a:t>- https://docs.smallest.ai/models/documentation/llm-electron/supported-parameters</a:t>
            </a:r>
          </a:p>
          <a:p>
            <a:r>
              <a:t>- https://docs.smallest.ai/models/documentation/text-to-speech-lightning/quickstart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the distinction: a Pulse final is stable transcript text; LiveKit still decides whether the user's full turn is complete.</a:t>
            </a:r>
          </a:p>
          <a:p>
            <a:endParaRPr/>
          </a:p>
          <a:p>
            <a:r>
              <a:t>[Sources]</a:t>
            </a:r>
          </a:p>
          <a:p>
            <a:r>
              <a:t>- docs/final-report.md</a:t>
            </a:r>
          </a:p>
          <a:p>
            <a:r>
              <a:t>- https://docs.smallest.ai/models/documentation/speech-to-text-pulse/features/endpointing</a:t>
            </a:r>
          </a:p>
          <a:p>
            <a:r>
              <a:t>- https://docs.livekit.io/agents/logic/turns/tuning/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R0 and R1 isolate </a:t>
            </a:r>
            <a:r>
              <a:rPr lang="en-IN" dirty="0" err="1"/>
              <a:t>LiveKit's</a:t>
            </a:r>
            <a:r>
              <a:rPr lang="en-IN" dirty="0"/>
              <a:t> maximum </a:t>
            </a:r>
            <a:r>
              <a:rPr lang="en-IN" dirty="0" err="1"/>
              <a:t>endpointing</a:t>
            </a:r>
            <a:r>
              <a:rPr lang="en-IN" dirty="0"/>
              <a:t> delay. R1 versus R2 changes Pulse mode and timeout together, so R2 is a documented strategy test rather than a single-parameter causal estimate.</a:t>
            </a:r>
          </a:p>
          <a:p>
            <a:endParaRPr lang="en-IN" dirty="0"/>
          </a:p>
          <a:p>
            <a:r>
              <a:rPr lang="en-IN" dirty="0"/>
              <a:t>[Sources]</a:t>
            </a:r>
          </a:p>
          <a:p>
            <a:r>
              <a:rPr lang="en-IN" dirty="0"/>
              <a:t>- results/evaluations/r0-r1-r2-recorded-comparison.md</a:t>
            </a:r>
          </a:p>
          <a:p>
            <a:r>
              <a:rPr lang="en-IN" dirty="0"/>
              <a:t>- results/evaluations/pulse-wer-summary.md</a:t>
            </a:r>
          </a:p>
          <a:p>
            <a:r>
              <a:rPr lang="en-IN" dirty="0"/>
              <a:t>- https://docs.smallest.ai/models/documentation/speech-to-text-pulse/features/endpointing</a:t>
            </a:r>
          </a:p>
          <a:p>
            <a:r>
              <a:rPr lang="en-IN"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within-call medians from one final human call: EOU n=9, Electron TTFT n=15, and Lightning TTFB n=10. The values include the client, network, provider, and orchestration path, so do not present them as provider-only benchmarks.</a:t>
            </a:r>
          </a:p>
          <a:p>
            <a:endParaRPr lang="en-US" dirty="0"/>
          </a:p>
          <a:p>
            <a:r>
              <a:rPr lang="en-US" dirty="0"/>
              <a:t>[Sources]</a:t>
            </a:r>
          </a:p>
          <a:p>
            <a:r>
              <a:rPr lang="en-US" dirty="0"/>
              <a:t>- results/evaluations/mvp-final-acceptance.md</a:t>
            </a:r>
          </a:p>
          <a:p>
            <a:r>
              <a:rPr lang="en-US"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deliberately honest failure modes. Each observation either changed the code/configuration or produced a clearly bounded production follow-up.</a:t>
            </a:r>
          </a:p>
          <a:p>
            <a:endParaRPr lang="en-US" dirty="0"/>
          </a:p>
          <a:p>
            <a:r>
              <a:rPr lang="en-US" dirty="0"/>
              <a:t>[Sources]</a:t>
            </a:r>
          </a:p>
          <a:p>
            <a:r>
              <a:rPr lang="en-US" dirty="0"/>
              <a:t>- results/evaluations/r0-r1-r2-recorded-comparison.md</a:t>
            </a:r>
          </a:p>
          <a:p>
            <a:r>
              <a:rPr lang="en-US" dirty="0"/>
              <a:t>- results/evaluations/mvp-final-acceptance.md</a:t>
            </a:r>
          </a:p>
          <a:p>
            <a:r>
              <a:rPr lang="en-US" dirty="0"/>
              <a:t>- docs/final-report.md</a:t>
            </a:r>
          </a:p>
          <a:p>
            <a:r>
              <a:rPr lang="en-US"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next work is not another broad parameter sweep. It is production hardening where the MVP evidence is weakest: stale tool state, acoustics, telephony, real persistence, and wider samples.</a:t>
            </a:r>
          </a:p>
          <a:p>
            <a:endParaRPr/>
          </a:p>
          <a:p>
            <a:r>
              <a:t>[Sources]</a:t>
            </a:r>
          </a:p>
          <a:p>
            <a:r>
              <a:t>- docs/final-report.md</a:t>
            </a:r>
          </a:p>
          <a:p>
            <a:r>
              <a:t>- results/evaluations/mvp-final-acceptance.md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 and the discipline behind it: controlled comparisons, explicit evidence limits, and a configuration selected for this bounded workflow. The repository includes code, run instructions, automated tests, and sanitized aggregate evidence; private voice fixtures and raw calls remain outside Git.</a:t>
            </a:r>
          </a:p>
          <a:p>
            <a:endParaRPr lang="en-US" dirty="0"/>
          </a:p>
          <a:p>
            <a:r>
              <a:rPr lang="en-US" dirty="0"/>
              <a:t>[Sources]</a:t>
            </a:r>
          </a:p>
          <a:p>
            <a:r>
              <a:rPr lang="en-US" dirty="0"/>
              <a:t>- docs/final-report.md</a:t>
            </a:r>
          </a:p>
          <a:p>
            <a:r>
              <a:rPr lang="en-US" dirty="0"/>
              <a:t>- results/evaluations/r0-r1-r2-recorded-comparison.md</a:t>
            </a:r>
          </a:p>
          <a:p>
            <a:r>
              <a:rPr lang="en-US" dirty="0"/>
              <a:t>- results/evaluations/pulse-wer-summary.md</a:t>
            </a:r>
          </a:p>
          <a:p>
            <a:r>
              <a:rPr lang="en-US" dirty="0"/>
              <a:t>- results/evaluations/electron-parameter-comparison.md</a:t>
            </a:r>
          </a:p>
          <a:p>
            <a:r>
              <a:rPr lang="en-US" dirty="0"/>
              <a:t>- results/evaluations/lightning-parameter-comparison.md</a:t>
            </a:r>
          </a:p>
          <a:p>
            <a:r>
              <a:rPr lang="en-US" dirty="0"/>
              <a:t>- results/evaluations/mvp-final-acceptance.md</a:t>
            </a:r>
          </a:p>
          <a:p>
            <a:r>
              <a:rPr lang="en-US"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8D3A257-E9B2-4742-954F-827E66DC1048}"/>
              </a:ext>
            </a:extLst>
          </p:cNvPr>
          <p:cNvSpPr>
            <a:spLocks noGrp="1"/>
          </p:cNvSpPr>
          <p:nvPr/>
        </p:nvSpPr>
        <p:spPr>
          <a:xfrm>
            <a:off x="640080" y="233172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400" b="1" dirty="0">
                <a:latin typeface="Arial"/>
                <a:ea typeface="Arial"/>
                <a:cs typeface="Arial"/>
              </a:rPr>
              <a:t>A Voice Agent on Smallest’s Stack</a:t>
            </a:r>
            <a:endParaRPr sz="4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D02892-381C-4618-A164-ADD7615BA64A}"/>
              </a:ext>
            </a:extLst>
          </p:cNvPr>
          <p:cNvSpPr>
            <a:spLocks noGrp="1"/>
          </p:cNvSpPr>
          <p:nvPr/>
        </p:nvSpPr>
        <p:spPr>
          <a:xfrm>
            <a:off x="640080" y="333756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Pulse</a:t>
            </a:r>
            <a:r>
              <a:rPr sz="180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(STT), </a:t>
            </a:r>
            <a:r>
              <a:rPr sz="18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Electron</a:t>
            </a:r>
            <a:r>
              <a:rPr sz="180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(SLM), </a:t>
            </a:r>
            <a:r>
              <a:rPr sz="18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Lightning v3.1 Pro</a:t>
            </a:r>
            <a:r>
              <a:rPr sz="180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 </a:t>
            </a:r>
            <a:r>
              <a:rPr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(TTS) on </a:t>
            </a:r>
            <a:r>
              <a:rPr sz="1800" b="1" dirty="0" err="1">
                <a:solidFill>
                  <a:srgbClr val="2563EB"/>
                </a:solidFill>
                <a:latin typeface="Arial"/>
                <a:ea typeface="Arial"/>
                <a:cs typeface="Arial"/>
              </a:rPr>
              <a:t>LiveKit</a:t>
            </a:r>
            <a:endParaRPr sz="1800" dirty="0">
              <a:solidFill>
                <a:srgbClr val="2563EB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C342B3-AC04-4AD5-B45A-722BE9E89125}"/>
              </a:ext>
            </a:extLst>
          </p:cNvPr>
          <p:cNvSpPr>
            <a:spLocks noGrp="1"/>
          </p:cNvSpPr>
          <p:nvPr/>
        </p:nvSpPr>
        <p:spPr>
          <a:xfrm>
            <a:off x="640080" y="379476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Working MVP and controlled evaluation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ECD1E7-DB77-4E61-8444-556778799D6B}"/>
              </a:ext>
            </a:extLst>
          </p:cNvPr>
          <p:cNvSpPr>
            <a:spLocks noGrp="1"/>
          </p:cNvSpPr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 dirty="0">
                <a:latin typeface="Arial"/>
                <a:ea typeface="Arial"/>
                <a:cs typeface="Arial"/>
              </a:rPr>
              <a:t>Akshita Garg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71430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F9A98-9F2B-8C31-32AD-489E0FF1B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10">
            <a:extLst>
              <a:ext uri="{FF2B5EF4-FFF2-40B4-BE49-F238E27FC236}">
                <a16:creationId xmlns:a16="http://schemas.microsoft.com/office/drawing/2014/main" id="{A823BF3B-6A2B-DED5-564D-EF4098264264}"/>
              </a:ext>
            </a:extLst>
          </p:cNvPr>
          <p:cNvSpPr>
            <a:spLocks noGrp="1"/>
          </p:cNvSpPr>
          <p:nvPr/>
        </p:nvSpPr>
        <p:spPr>
          <a:xfrm>
            <a:off x="518204" y="1732728"/>
            <a:ext cx="11322259" cy="2729863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5875">
            <a:noFill/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16495E-1B14-FCE6-D8AE-1335AA34124B}"/>
              </a:ext>
            </a:extLst>
          </p:cNvPr>
          <p:cNvSpPr>
            <a:spLocks noGrp="1"/>
          </p:cNvSpPr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8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 working end-to-end voice agent</a:t>
            </a:r>
            <a:endParaRPr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29F183-330A-9593-CA2D-DFBCA3300E08}"/>
              </a:ext>
            </a:extLst>
          </p:cNvPr>
          <p:cNvSpPr>
            <a:spLocks noGrp="1"/>
          </p:cNvSpPr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Arial"/>
                <a:ea typeface="Arial"/>
                <a:cs typeface="Arial"/>
              </a:rPr>
              <a:t>02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DCF0D8-D42F-3170-2405-8276816650DA}"/>
              </a:ext>
            </a:extLst>
          </p:cNvPr>
          <p:cNvSpPr>
            <a:spLocks noGrp="1"/>
          </p:cNvSpPr>
          <p:nvPr/>
        </p:nvSpPr>
        <p:spPr>
          <a:xfrm>
            <a:off x="640080" y="4710421"/>
            <a:ext cx="7813256" cy="15883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</a:pPr>
            <a:r>
              <a:rPr sz="1550" b="1" i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Aisha</a:t>
            </a:r>
            <a:r>
              <a:rPr lang="en-IN" sz="1550" b="1" i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*</a:t>
            </a:r>
            <a:r>
              <a:rPr sz="1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a clinic appointment coordinator</a:t>
            </a:r>
            <a:r>
              <a:rPr lang="en-IN" sz="1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:</a:t>
            </a:r>
            <a:endParaRPr sz="1550" dirty="0"/>
          </a:p>
          <a:p>
            <a:pPr marL="285750" indent="-285750">
              <a:lnSpc>
                <a:spcPct val="112000"/>
              </a:lnSpc>
              <a:buFont typeface="Wingdings" panose="05000000000000000000" pitchFamily="2" charset="2"/>
              <a:buChar char="Ø"/>
            </a:pPr>
            <a:r>
              <a:rPr sz="1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Listens</a:t>
            </a:r>
            <a:endParaRPr lang="en-IN" sz="15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lnSpc>
                <a:spcPct val="112000"/>
              </a:lnSpc>
              <a:buFont typeface="Wingdings" panose="05000000000000000000" pitchFamily="2" charset="2"/>
              <a:buChar char="Ø"/>
            </a:pPr>
            <a:r>
              <a:rPr lang="en-IN" sz="1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</a:t>
            </a:r>
            <a:r>
              <a:rPr sz="15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hecks</a:t>
            </a:r>
            <a:r>
              <a:rPr sz="1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availability</a:t>
            </a:r>
            <a:endParaRPr lang="en-IN" sz="15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lnSpc>
                <a:spcPct val="112000"/>
              </a:lnSpc>
              <a:buFont typeface="Wingdings" panose="05000000000000000000" pitchFamily="2" charset="2"/>
              <a:buChar char="Ø"/>
            </a:pPr>
            <a:r>
              <a:rPr lang="en-IN" sz="1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</a:t>
            </a:r>
            <a:r>
              <a:rPr sz="15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ooks</a:t>
            </a:r>
            <a:r>
              <a:rPr sz="1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a slot</a:t>
            </a:r>
            <a:r>
              <a:rPr lang="en-IN" sz="1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(</a:t>
            </a:r>
            <a:r>
              <a:rPr sz="1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 real time</a:t>
            </a:r>
            <a:r>
              <a:rPr lang="en-IN" sz="1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 marL="285750" indent="-285750">
              <a:lnSpc>
                <a:spcPct val="112000"/>
              </a:lnSpc>
              <a:buFont typeface="Wingdings" panose="05000000000000000000" pitchFamily="2" charset="2"/>
              <a:buChar char="Ø"/>
            </a:pPr>
            <a:endParaRPr lang="en-IN" sz="15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12000"/>
              </a:lnSpc>
            </a:pPr>
            <a:r>
              <a:rPr lang="en-US" sz="15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*Handles administrative appointments only and refuses medical advice.</a:t>
            </a:r>
            <a:endParaRPr lang="en-IN" sz="1550" dirty="0"/>
          </a:p>
        </p:txBody>
      </p:sp>
      <p:sp>
        <p:nvSpPr>
          <p:cNvPr id="2" name="Smallest model grouping brace">
            <a:extLst>
              <a:ext uri="{FF2B5EF4-FFF2-40B4-BE49-F238E27FC236}">
                <a16:creationId xmlns:a16="http://schemas.microsoft.com/office/drawing/2014/main" id="{DD666A53-FABA-BB66-5606-3F9B3238119C}"/>
              </a:ext>
            </a:extLst>
          </p:cNvPr>
          <p:cNvSpPr>
            <a:spLocks noGrp="1"/>
          </p:cNvSpPr>
          <p:nvPr/>
        </p:nvSpPr>
        <p:spPr>
          <a:xfrm rot="5400000">
            <a:off x="6009684" y="-319525"/>
            <a:ext cx="342300" cy="6304816"/>
          </a:xfrm>
          <a:prstGeom prst="leftBrace">
            <a:avLst/>
          </a:prstGeom>
          <a:noFill/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976872EF-D353-93B8-DFDB-C991A69AF6C3}"/>
              </a:ext>
            </a:extLst>
          </p:cNvPr>
          <p:cNvSpPr>
            <a:spLocks noGrp="1"/>
          </p:cNvSpPr>
          <p:nvPr/>
        </p:nvSpPr>
        <p:spPr>
          <a:xfrm>
            <a:off x="4283662" y="1723812"/>
            <a:ext cx="3794344" cy="861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1550" dirty="0"/>
          </a:p>
          <a:p>
            <a:pPr marL="0" indent="0" algn="ctr">
              <a:lnSpc>
                <a:spcPct val="112000"/>
              </a:lnSpc>
              <a:buNone/>
            </a:pPr>
            <a:r>
              <a:rPr sz="20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Built on Smallest’s</a:t>
            </a:r>
            <a:r>
              <a:rPr lang="en-IN" sz="20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 Stack</a:t>
            </a:r>
            <a:endParaRPr lang="en-US" sz="1550" b="1" dirty="0">
              <a:solidFill>
                <a:srgbClr val="6B7280"/>
              </a:solidFill>
              <a:latin typeface="Arial"/>
              <a:ea typeface="Arial"/>
              <a:cs typeface="Arial"/>
            </a:endParaRP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5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orchestrated with </a:t>
            </a:r>
            <a:r>
              <a:rPr lang="en-US" sz="1550" dirty="0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LiveKit</a:t>
            </a:r>
            <a:r>
              <a:rPr lang="en-US" sz="15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over WebRTC</a:t>
            </a:r>
            <a:endParaRPr lang="en-US" sz="155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754157A8-017D-A92E-6751-D7631CDDB1AC}"/>
              </a:ext>
            </a:extLst>
          </p:cNvPr>
          <p:cNvSpPr>
            <a:spLocks noGrp="1"/>
          </p:cNvSpPr>
          <p:nvPr/>
        </p:nvSpPr>
        <p:spPr>
          <a:xfrm>
            <a:off x="776255" y="3159137"/>
            <a:ext cx="1562728" cy="971948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Mic / WebRTC</a:t>
            </a: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327D5F0E-3F0F-0034-BA84-109E2AC96748}"/>
              </a:ext>
            </a:extLst>
          </p:cNvPr>
          <p:cNvSpPr>
            <a:spLocks noGrp="1"/>
          </p:cNvSpPr>
          <p:nvPr/>
        </p:nvSpPr>
        <p:spPr>
          <a:xfrm>
            <a:off x="3086786" y="3159137"/>
            <a:ext cx="1562728" cy="971948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IN" sz="15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Pulse</a:t>
            </a:r>
            <a:endParaRPr lang="en-IN" sz="1500" dirty="0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9772F877-C83E-89CC-6FCF-4CA58727B185}"/>
              </a:ext>
            </a:extLst>
          </p:cNvPr>
          <p:cNvSpPr>
            <a:spLocks noGrp="1"/>
          </p:cNvSpPr>
          <p:nvPr/>
        </p:nvSpPr>
        <p:spPr>
          <a:xfrm>
            <a:off x="5397317" y="3159137"/>
            <a:ext cx="1562728" cy="971948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IN" sz="1500" b="1" dirty="0">
                <a:solidFill>
                  <a:srgbClr val="2563EB"/>
                </a:solidFill>
                <a:latin typeface="Arial"/>
                <a:cs typeface="Arial"/>
              </a:rPr>
              <a:t>Electron</a:t>
            </a:r>
            <a:endParaRPr lang="en-IN" sz="1500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62F73BF0-4A71-A7B3-049A-E2F1593D3418}"/>
              </a:ext>
            </a:extLst>
          </p:cNvPr>
          <p:cNvSpPr>
            <a:spLocks noGrp="1"/>
          </p:cNvSpPr>
          <p:nvPr/>
        </p:nvSpPr>
        <p:spPr>
          <a:xfrm>
            <a:off x="7707848" y="3159137"/>
            <a:ext cx="1562728" cy="971948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 anchor="ctr" anchorCtr="0"/>
          <a:lstStyle/>
          <a:p>
            <a:pPr algn="ctr">
              <a:defRPr/>
            </a:pPr>
            <a:r>
              <a:rPr lang="en-IN" sz="1500" b="1" dirty="0">
                <a:solidFill>
                  <a:srgbClr val="2563EB"/>
                </a:solidFill>
                <a:latin typeface="Arial"/>
                <a:cs typeface="Arial"/>
              </a:rPr>
              <a:t>Lightning</a:t>
            </a:r>
            <a:endParaRPr lang="en-IN" sz="1500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E855D75E-EFAE-4E2D-E037-556EAFD91B25}"/>
              </a:ext>
            </a:extLst>
          </p:cNvPr>
          <p:cNvSpPr>
            <a:spLocks noGrp="1"/>
          </p:cNvSpPr>
          <p:nvPr/>
        </p:nvSpPr>
        <p:spPr>
          <a:xfrm>
            <a:off x="10018382" y="3159137"/>
            <a:ext cx="1562728" cy="971948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Speaker</a:t>
            </a:r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C6BCF0C7-31B5-6106-9112-00664F891750}"/>
              </a:ext>
            </a:extLst>
          </p:cNvPr>
          <p:cNvSpPr>
            <a:spLocks noGrp="1"/>
          </p:cNvSpPr>
          <p:nvPr/>
        </p:nvSpPr>
        <p:spPr>
          <a:xfrm>
            <a:off x="2469546" y="3667654"/>
            <a:ext cx="486677" cy="0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B1889043-AA1E-9DAC-B547-568BDA3BC62A}"/>
              </a:ext>
            </a:extLst>
          </p:cNvPr>
          <p:cNvSpPr>
            <a:spLocks noGrp="1"/>
          </p:cNvSpPr>
          <p:nvPr/>
        </p:nvSpPr>
        <p:spPr>
          <a:xfrm>
            <a:off x="4780077" y="3667654"/>
            <a:ext cx="486677" cy="0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 dirty="0"/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410DB0A1-21B8-222E-C987-25CED11CE1E4}"/>
              </a:ext>
            </a:extLst>
          </p:cNvPr>
          <p:cNvSpPr>
            <a:spLocks noGrp="1"/>
          </p:cNvSpPr>
          <p:nvPr/>
        </p:nvSpPr>
        <p:spPr>
          <a:xfrm>
            <a:off x="7090608" y="3667654"/>
            <a:ext cx="486677" cy="0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C4DA93D0-EF7D-B12F-A360-2FF9652D6799}"/>
              </a:ext>
            </a:extLst>
          </p:cNvPr>
          <p:cNvSpPr>
            <a:spLocks noGrp="1"/>
          </p:cNvSpPr>
          <p:nvPr/>
        </p:nvSpPr>
        <p:spPr>
          <a:xfrm>
            <a:off x="9401139" y="3667654"/>
            <a:ext cx="486677" cy="0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001" name="kicker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spc="200">
                <a:solidFill>
                  <a:srgbClr val="2563EB"/>
                </a:solidFill>
                <a:latin typeface="Arial"/>
              </a:rPr>
              <a:t>01  </a:t>
            </a:r>
            <a:r>
              <a:rPr lang="en-US" sz="1200" b="1" spc="200">
                <a:solidFill>
                  <a:srgbClr val="6B7280"/>
                </a:solidFill>
                <a:latin typeface="Arial"/>
              </a:rPr>
              <a:t>OVERVIEW</a:t>
            </a:r>
          </a:p>
        </p:txBody>
      </p:sp>
      <p:sp>
        <p:nvSpPr>
          <p:cNvPr id="6" name="Electron deterministic tool loop">
            <a:extLst>
              <a:ext uri="{FF2B5EF4-FFF2-40B4-BE49-F238E27FC236}">
                <a16:creationId xmlns:a16="http://schemas.microsoft.com/office/drawing/2014/main" id="{5F43454E-754E-E4B8-0C5E-DF9D385FC27B}"/>
              </a:ext>
            </a:extLst>
          </p:cNvPr>
          <p:cNvSpPr>
            <a:spLocks noGrp="1"/>
          </p:cNvSpPr>
          <p:nvPr/>
        </p:nvSpPr>
        <p:spPr>
          <a:xfrm>
            <a:off x="4524375" y="4210050"/>
            <a:ext cx="4048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50" b="1">
                <a:solidFill>
                  <a:srgbClr val="087F78"/>
                </a:solidFill>
              </a:defRPr>
            </a:pPr>
            <a:r>
              <a:rPr sz="1150" b="1" dirty="0">
                <a:solidFill>
                  <a:srgbClr val="087F78"/>
                </a:solidFill>
              </a:rPr>
              <a:t>↕  </a:t>
            </a:r>
            <a:r>
              <a:rPr lang="en-IN" sz="1150" b="1" dirty="0">
                <a:solidFill>
                  <a:srgbClr val="087F78"/>
                </a:solidFill>
              </a:rPr>
              <a:t>tools: </a:t>
            </a:r>
            <a:r>
              <a:rPr sz="1150" b="1" dirty="0">
                <a:solidFill>
                  <a:srgbClr val="087F78"/>
                </a:solidFill>
              </a:rPr>
              <a:t>availability</a:t>
            </a:r>
            <a:r>
              <a:rPr lang="en-IN" sz="1150" b="1" dirty="0">
                <a:solidFill>
                  <a:srgbClr val="087F78"/>
                </a:solidFill>
              </a:rPr>
              <a:t>, </a:t>
            </a:r>
            <a:r>
              <a:rPr sz="1150" b="1" dirty="0">
                <a:solidFill>
                  <a:srgbClr val="087F78"/>
                </a:solidFill>
              </a:rPr>
              <a:t>phone validation </a:t>
            </a:r>
            <a:r>
              <a:rPr lang="en-IN" sz="1150" b="1" dirty="0">
                <a:solidFill>
                  <a:srgbClr val="087F78"/>
                </a:solidFill>
              </a:rPr>
              <a:t>and </a:t>
            </a:r>
            <a:r>
              <a:rPr sz="1150" b="1" dirty="0">
                <a:solidFill>
                  <a:srgbClr val="087F78"/>
                </a:solidFill>
              </a:rPr>
              <a:t>booking</a:t>
            </a:r>
          </a:p>
        </p:txBody>
      </p:sp>
    </p:spTree>
    <p:extLst>
      <p:ext uri="{BB962C8B-B14F-4D97-AF65-F5344CB8AC3E}">
        <p14:creationId xmlns:p14="http://schemas.microsoft.com/office/powerpoint/2010/main" val="3630294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r>
              <a:rPr lang="en-US" sz="1200" b="1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controlled evaluations produced the final stack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rule:  </a:t>
            </a: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one parameter family at a time and keep the lowest-latency setting that clears every guardrail. The winning R1 / E3 / L1 stack was then validated together in one live end-to-end call.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393338" cy="3611880"/>
          </a:xfrm>
          <a:prstGeom prst="roundRect">
            <a:avLst>
              <a:gd name="adj" fmla="val 161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96312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53512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finalization · 18 fixed-audio calls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3756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audios× 2 reps × 3 configs (R0 to R2)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815422"/>
            <a:ext cx="2844698" cy="5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Judged on turn fragmentation, EOU delay, and tool correctness.</a:t>
            </a:r>
            <a:endParaRPr lang="en-US" sz="1150" i="1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522884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 R1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822655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</a:t>
            </a:r>
            <a:r>
              <a:rPr lang="en-US" sz="12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endpointing</a:t>
            </a: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EOU 100 ms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LiveKit max delay 3.0 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99178" y="2240280"/>
            <a:ext cx="3393338" cy="3611880"/>
          </a:xfrm>
          <a:prstGeom prst="roundRect">
            <a:avLst>
              <a:gd name="adj" fmla="val 161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73498" y="2496312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73498" y="2953512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· 72 text-level requests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73498" y="333756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cases × 2 reps × 4 configs (E0 to E3)</a:t>
            </a:r>
          </a:p>
          <a:p>
            <a:pPr>
              <a:lnSpc>
                <a:spcPct val="105000"/>
              </a:lnSpc>
            </a:pPr>
            <a:r>
              <a:rPr lang="en-IN" sz="12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Temp 0/0.2/0.6, tokens 120/80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73498" y="3815422"/>
            <a:ext cx="2844698" cy="5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Judged on tool + argument accuracy and guardrails, then lower temperature and tokens.</a:t>
            </a:r>
            <a:endParaRPr lang="en-US" sz="1150" i="1" dirty="0"/>
          </a:p>
        </p:txBody>
      </p:sp>
      <p:sp>
        <p:nvSpPr>
          <p:cNvPr id="17" name="Text 15"/>
          <p:cNvSpPr txBox="1"/>
          <p:nvPr/>
        </p:nvSpPr>
        <p:spPr>
          <a:xfrm>
            <a:off x="4673498" y="4522884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 E3 (18/18 passed)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673498" y="4822655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0.0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80 tokens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TTFT ≈ 214 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8277" y="2240280"/>
            <a:ext cx="3393338" cy="3611880"/>
          </a:xfrm>
          <a:prstGeom prst="roundRect">
            <a:avLst>
              <a:gd name="adj" fmla="val 161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32597" y="2496312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v3.1 Pro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432597" y="2953512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· 24 syntheses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32597" y="333756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phrases × 4 configs (L0 to L3)</a:t>
            </a:r>
          </a:p>
          <a:p>
            <a:pPr>
              <a:lnSpc>
                <a:spcPct val="105000"/>
              </a:lnSpc>
            </a:pPr>
            <a:r>
              <a:rPr lang="en-US" sz="12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Speed 0.9/1.0/1.1, buffer 0/200 </a:t>
            </a:r>
            <a:r>
              <a:rPr lang="en-US" sz="12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32597" y="3815422"/>
            <a:ext cx="2844698" cy="5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Judged on intelligibility of dates, digits and the booking ID by listening, then TTFB.</a:t>
            </a:r>
            <a:endParaRPr lang="en-US" sz="1150" i="1" dirty="0"/>
          </a:p>
        </p:txBody>
      </p:sp>
      <p:sp>
        <p:nvSpPr>
          <p:cNvPr id="24" name="Text 22"/>
          <p:cNvSpPr txBox="1"/>
          <p:nvPr/>
        </p:nvSpPr>
        <p:spPr>
          <a:xfrm>
            <a:off x="8432597" y="4522884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 L1 (by listening)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432597" y="4822655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1.0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0 ms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“meher”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kHz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01675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scripted request succeeded across all configurations; the choice was finally based on latency and, for Lightning, human listening.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0">
            <a:extLst>
              <a:ext uri="{FF2B5EF4-FFF2-40B4-BE49-F238E27FC236}">
                <a16:creationId xmlns:a16="http://schemas.microsoft.com/office/drawing/2014/main" id="{F3AE0F0A-5435-30E7-2493-6D81998357AA}"/>
              </a:ext>
            </a:extLst>
          </p:cNvPr>
          <p:cNvSpPr>
            <a:spLocks noGrp="1"/>
          </p:cNvSpPr>
          <p:nvPr/>
        </p:nvSpPr>
        <p:spPr>
          <a:xfrm>
            <a:off x="345608" y="4711107"/>
            <a:ext cx="11564576" cy="1176057"/>
          </a:xfrm>
          <a:prstGeom prst="roundRect">
            <a:avLst>
              <a:gd name="adj" fmla="val 0"/>
            </a:avLst>
          </a:prstGeom>
          <a:solidFill>
            <a:srgbClr val="EFF4FE"/>
          </a:solidFill>
          <a:ln w="15875">
            <a:noFill/>
            <a:prstDash val="solid"/>
          </a:ln>
        </p:spPr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E249A5FC-686B-F64D-38EA-D671E430D426}"/>
              </a:ext>
            </a:extLst>
          </p:cNvPr>
          <p:cNvSpPr>
            <a:spLocks noGrp="1"/>
          </p:cNvSpPr>
          <p:nvPr/>
        </p:nvSpPr>
        <p:spPr>
          <a:xfrm>
            <a:off x="345608" y="1695522"/>
            <a:ext cx="11564576" cy="1176057"/>
          </a:xfrm>
          <a:prstGeom prst="roundRect">
            <a:avLst>
              <a:gd name="adj" fmla="val 0"/>
            </a:avLst>
          </a:prstGeom>
          <a:solidFill>
            <a:srgbClr val="EFF4FE"/>
          </a:solidFill>
          <a:ln w="15875">
            <a:noFill/>
            <a:prstDash val="solid"/>
          </a:ln>
        </p:spPr>
      </p:sp>
      <p:sp>
        <p:nvSpPr>
          <p:cNvPr id="2" name="Shape 10">
            <a:extLst>
              <a:ext uri="{FF2B5EF4-FFF2-40B4-BE49-F238E27FC236}">
                <a16:creationId xmlns:a16="http://schemas.microsoft.com/office/drawing/2014/main" id="{C2EE8AF9-4DC2-BA06-E7CD-0FEF9188D895}"/>
              </a:ext>
            </a:extLst>
          </p:cNvPr>
          <p:cNvSpPr>
            <a:spLocks noGrp="1"/>
          </p:cNvSpPr>
          <p:nvPr/>
        </p:nvSpPr>
        <p:spPr>
          <a:xfrm>
            <a:off x="345608" y="3203315"/>
            <a:ext cx="11564576" cy="1176057"/>
          </a:xfrm>
          <a:prstGeom prst="roundRect">
            <a:avLst>
              <a:gd name="adj" fmla="val 0"/>
            </a:avLst>
          </a:prstGeom>
          <a:solidFill>
            <a:srgbClr val="EFF4FE"/>
          </a:solidFill>
          <a:ln w="15875">
            <a:noFill/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BDB43F-3889-4035-AEE5-985713708D36}"/>
              </a:ext>
            </a:extLst>
          </p:cNvPr>
          <p:cNvSpPr>
            <a:spLocks noGrp="1"/>
          </p:cNvSpPr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Knowing when to listen, and when to speak</a:t>
            </a:r>
            <a:endParaRPr sz="2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84B10B-76DD-4F07-9EFA-AD5F14710D11}"/>
              </a:ext>
            </a:extLst>
          </p:cNvPr>
          <p:cNvSpPr>
            <a:spLocks noGrp="1"/>
          </p:cNvSpPr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Arial"/>
                <a:ea typeface="Arial"/>
                <a:cs typeface="Arial"/>
              </a:rPr>
              <a:t>04</a:t>
            </a:r>
            <a:endParaRPr sz="1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225D55A-57A3-47E0-8C6B-2C0BD9FE45D6}"/>
              </a:ext>
            </a:extLst>
          </p:cNvPr>
          <p:cNvSpPr>
            <a:spLocks noGrp="1"/>
          </p:cNvSpPr>
          <p:nvPr/>
        </p:nvSpPr>
        <p:spPr>
          <a:xfrm>
            <a:off x="640080" y="209152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FC171EC-ACA5-4F4A-8441-F61FD2388814}"/>
              </a:ext>
            </a:extLst>
          </p:cNvPr>
          <p:cNvSpPr>
            <a:spLocks noGrp="1"/>
          </p:cNvSpPr>
          <p:nvPr/>
        </p:nvSpPr>
        <p:spPr>
          <a:xfrm>
            <a:off x="640080" y="209152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606422D-7037-4509-B1AB-30022AC12539}"/>
              </a:ext>
            </a:extLst>
          </p:cNvPr>
          <p:cNvSpPr>
            <a:spLocks noGrp="1"/>
          </p:cNvSpPr>
          <p:nvPr/>
        </p:nvSpPr>
        <p:spPr>
          <a:xfrm>
            <a:off x="1234440" y="1856232"/>
            <a:ext cx="1031717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Two detectors, two jobs</a:t>
            </a:r>
            <a:endParaRPr sz="17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4C4E6E0-A883-41EE-96FB-544350B34E4B}"/>
              </a:ext>
            </a:extLst>
          </p:cNvPr>
          <p:cNvSpPr>
            <a:spLocks noGrp="1"/>
          </p:cNvSpPr>
          <p:nvPr/>
        </p:nvSpPr>
        <p:spPr>
          <a:xfrm>
            <a:off x="1234440" y="2258568"/>
            <a:ext cx="10317175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0000"/>
              </a:lnSpc>
              <a:buNone/>
            </a:pPr>
            <a:r>
              <a:rPr sz="1350">
                <a:solidFill>
                  <a:srgbClr val="6B7280"/>
                </a:solidFill>
                <a:latin typeface="Arial"/>
                <a:ea typeface="Arial"/>
                <a:cs typeface="Arial"/>
              </a:rPr>
              <a:t>Silero VAD marks speech vs silence (550 ms min silence). LiveKit turn-detector-v1 decides, semantically, whether the thought is actually complete.</a:t>
            </a:r>
            <a:endParaRPr sz="13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BC4884D-D332-4801-A6DE-C04C02B610B5}"/>
              </a:ext>
            </a:extLst>
          </p:cNvPr>
          <p:cNvSpPr>
            <a:spLocks noGrp="1"/>
          </p:cNvSpPr>
          <p:nvPr/>
        </p:nvSpPr>
        <p:spPr>
          <a:xfrm>
            <a:off x="640080" y="359931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BB0E248-1D74-4234-BF8E-E5068FE4772D}"/>
              </a:ext>
            </a:extLst>
          </p:cNvPr>
          <p:cNvSpPr>
            <a:spLocks noGrp="1"/>
          </p:cNvSpPr>
          <p:nvPr/>
        </p:nvSpPr>
        <p:spPr>
          <a:xfrm>
            <a:off x="640080" y="359931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70A3EA4-2C6D-4D0D-B6C3-1B28F68FFEFC}"/>
              </a:ext>
            </a:extLst>
          </p:cNvPr>
          <p:cNvSpPr>
            <a:spLocks noGrp="1"/>
          </p:cNvSpPr>
          <p:nvPr/>
        </p:nvSpPr>
        <p:spPr>
          <a:xfrm>
            <a:off x="1234440" y="3337560"/>
            <a:ext cx="1031717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 Pulse </a:t>
            </a:r>
            <a:r>
              <a:rPr sz="1700" b="1" i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final </a:t>
            </a:r>
            <a:r>
              <a:rPr sz="17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is not a turn</a:t>
            </a:r>
            <a:endParaRPr sz="17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00D91C9-DB46-4DA4-B9FD-CD4DD99A0220}"/>
              </a:ext>
            </a:extLst>
          </p:cNvPr>
          <p:cNvSpPr>
            <a:spLocks noGrp="1"/>
          </p:cNvSpPr>
          <p:nvPr/>
        </p:nvSpPr>
        <p:spPr>
          <a:xfrm>
            <a:off x="1234440" y="3739896"/>
            <a:ext cx="10317175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0000"/>
              </a:lnSpc>
              <a:buNone/>
            </a:pPr>
            <a:r>
              <a:rPr sz="13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Pulse emitting </a:t>
            </a:r>
            <a:r>
              <a:rPr sz="1350" dirty="0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is_final</a:t>
            </a:r>
            <a:r>
              <a:rPr sz="13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is stable text, not permission to respond. </a:t>
            </a:r>
            <a:r>
              <a:rPr sz="1350" dirty="0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LiveKit</a:t>
            </a:r>
            <a:r>
              <a:rPr sz="13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separately commits the turn</a:t>
            </a:r>
            <a:r>
              <a:rPr lang="en-IN" sz="13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, </a:t>
            </a:r>
            <a:r>
              <a:rPr sz="13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several Pulse finals can be one user turn. Keeping these separate is what prevents premature replies.</a:t>
            </a:r>
            <a:endParaRPr sz="13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838E561-8114-4A41-BF4C-3326CF682E89}"/>
              </a:ext>
            </a:extLst>
          </p:cNvPr>
          <p:cNvSpPr>
            <a:spLocks noGrp="1"/>
          </p:cNvSpPr>
          <p:nvPr/>
        </p:nvSpPr>
        <p:spPr>
          <a:xfrm>
            <a:off x="640080" y="5107111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D33B727-14B3-4C81-8A99-1AFB3991EC51}"/>
              </a:ext>
            </a:extLst>
          </p:cNvPr>
          <p:cNvSpPr>
            <a:spLocks noGrp="1"/>
          </p:cNvSpPr>
          <p:nvPr/>
        </p:nvSpPr>
        <p:spPr>
          <a:xfrm>
            <a:off x="640080" y="5107111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3287C89-CAF8-4397-A869-A66DC5B8DCA6}"/>
              </a:ext>
            </a:extLst>
          </p:cNvPr>
          <p:cNvSpPr>
            <a:spLocks noGrp="1"/>
          </p:cNvSpPr>
          <p:nvPr/>
        </p:nvSpPr>
        <p:spPr>
          <a:xfrm>
            <a:off x="1234440" y="4818888"/>
            <a:ext cx="1031717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Barge-in</a:t>
            </a:r>
            <a:endParaRPr sz="17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6233335-578D-47AB-82C7-A9346BC44E7A}"/>
              </a:ext>
            </a:extLst>
          </p:cNvPr>
          <p:cNvSpPr>
            <a:spLocks noGrp="1"/>
          </p:cNvSpPr>
          <p:nvPr/>
        </p:nvSpPr>
        <p:spPr>
          <a:xfrm>
            <a:off x="1234440" y="5221224"/>
            <a:ext cx="10317175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0000"/>
              </a:lnSpc>
              <a:buNone/>
            </a:pPr>
            <a:r>
              <a:rPr sz="1350">
                <a:solidFill>
                  <a:srgbClr val="6B7280"/>
                </a:solidFill>
                <a:latin typeface="Arial"/>
                <a:ea typeface="Arial"/>
                <a:cs typeface="Arial"/>
              </a:rPr>
              <a:t>The user can interrupt after 0.2 s; LiveKit cancels speech and re-listens. Pulse supports explicit force-finalize, but the official adapter exposes no public trigger, so the MVP retained native endpointing.</a:t>
            </a:r>
            <a:endParaRPr sz="1350"/>
          </a:p>
        </p:txBody>
      </p:sp>
      <p:sp>
        <p:nvSpPr>
          <p:cNvPr id="9001" name="kicker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spc="200">
                <a:solidFill>
                  <a:srgbClr val="2563EB"/>
                </a:solidFill>
                <a:latin typeface="Arial"/>
              </a:rPr>
              <a:t>03  </a:t>
            </a:r>
            <a:r>
              <a:rPr lang="en-US" sz="1200" b="1" spc="200">
                <a:solidFill>
                  <a:srgbClr val="6B7280"/>
                </a:solidFill>
                <a:latin typeface="Arial"/>
              </a:rPr>
              <a:t>REAL-TIME</a:t>
            </a:r>
          </a:p>
        </p:txBody>
      </p:sp>
    </p:spTree>
    <p:extLst>
      <p:ext uri="{BB962C8B-B14F-4D97-AF65-F5344CB8AC3E}">
        <p14:creationId xmlns:p14="http://schemas.microsoft.com/office/powerpoint/2010/main" val="1918360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r>
              <a:rPr lang="en-US" sz="1200" b="1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FINALIZATION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balanced hesitation protection and response speed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Isolating LiveKit’s maximum endpointing delay (R0 to R1), then a timeout-only strategy (R2). Three recordings, two repetitions each: 18 controlled calls.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98538" y="2148840"/>
            <a:ext cx="2326538" cy="2980944"/>
          </a:xfrm>
          <a:prstGeom prst="roundRect">
            <a:avLst>
              <a:gd name="adj" fmla="val 1572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0" y="2240280"/>
            <a:ext cx="2326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2715768"/>
            <a:ext cx="2326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endpointing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1.50 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98538" y="2240280"/>
            <a:ext cx="2326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98538" y="2551176"/>
            <a:ext cx="2326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898538" y="2715768"/>
            <a:ext cx="2326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endpointing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3.00 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225077" y="2240280"/>
            <a:ext cx="2326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225077" y="2715768"/>
            <a:ext cx="2326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timeout-only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EOU 800 ms · max 3.00 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081528"/>
            <a:ext cx="10911535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08152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user turns (6 calls)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081528"/>
            <a:ext cx="2326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898538" y="3081528"/>
            <a:ext cx="2326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225077" y="3081528"/>
            <a:ext cx="2326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3593592"/>
            <a:ext cx="109115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59359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Clean-request mean EOU delay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593592"/>
            <a:ext cx="2326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0.823 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898538" y="3593592"/>
            <a:ext cx="2326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0.844 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225077" y="3593592"/>
            <a:ext cx="2326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2.660 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4105656"/>
            <a:ext cx="109115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10565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availability tool calls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105656"/>
            <a:ext cx="2326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898538" y="4105656"/>
            <a:ext cx="2326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225077" y="4105656"/>
            <a:ext cx="2326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4617720"/>
            <a:ext cx="109115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61772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fixture (1.5 s pause)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4617720"/>
            <a:ext cx="2326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turns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898538" y="4617720"/>
            <a:ext cx="2326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turns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9225077" y="4617720"/>
            <a:ext cx="2326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turns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40080" y="5129784"/>
            <a:ext cx="10911535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54041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 </a:t>
            </a: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R1. R2 grouped more aggressively but added about 1.8 s versus R1 on clean turns. Overall normalized WER was 2.70% on 222 reference words.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9257376-B8AD-4283-929F-D1E86B55EF3E}"/>
              </a:ext>
            </a:extLst>
          </p:cNvPr>
          <p:cNvSpPr>
            <a:spLocks noGrp="1"/>
          </p:cNvSpPr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Final call: responsive, correct and complete</a:t>
            </a:r>
            <a:endParaRPr sz="2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035AAC2-52D8-4826-BA17-4F3FEDF262EC}"/>
              </a:ext>
            </a:extLst>
          </p:cNvPr>
          <p:cNvSpPr>
            <a:spLocks noGrp="1"/>
          </p:cNvSpPr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Arial"/>
                <a:ea typeface="Arial"/>
                <a:cs typeface="Arial"/>
              </a:rPr>
              <a:t>05</a:t>
            </a:r>
            <a:endParaRPr sz="1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47D014B-43BA-4FA5-AA08-A0C098957597}"/>
              </a:ext>
            </a:extLst>
          </p:cNvPr>
          <p:cNvSpPr>
            <a:spLocks noGrp="1"/>
          </p:cNvSpPr>
          <p:nvPr/>
        </p:nvSpPr>
        <p:spPr>
          <a:xfrm>
            <a:off x="640080" y="2103120"/>
            <a:ext cx="3393338" cy="192024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FA0C52B-CCDE-442D-96B0-E618A79661D2}"/>
              </a:ext>
            </a:extLst>
          </p:cNvPr>
          <p:cNvSpPr>
            <a:spLocks noGrp="1"/>
          </p:cNvSpPr>
          <p:nvPr/>
        </p:nvSpPr>
        <p:spPr>
          <a:xfrm>
            <a:off x="914400" y="2423160"/>
            <a:ext cx="2844698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0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0.85 s</a:t>
            </a:r>
            <a:endParaRPr sz="4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8A5820A-357C-4AD7-89E8-E30EA6A06382}"/>
              </a:ext>
            </a:extLst>
          </p:cNvPr>
          <p:cNvSpPr>
            <a:spLocks noGrp="1"/>
          </p:cNvSpPr>
          <p:nvPr/>
        </p:nvSpPr>
        <p:spPr>
          <a:xfrm>
            <a:off x="914400" y="3273552"/>
            <a:ext cx="284469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EOU delay</a:t>
            </a:r>
            <a:endParaRPr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5B0F75D-2554-4A5A-9D2E-EE20B8E0A612}"/>
              </a:ext>
            </a:extLst>
          </p:cNvPr>
          <p:cNvSpPr>
            <a:spLocks noGrp="1"/>
          </p:cNvSpPr>
          <p:nvPr/>
        </p:nvSpPr>
        <p:spPr>
          <a:xfrm>
            <a:off x="914400" y="3584448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p95 3.01 s</a:t>
            </a:r>
            <a:endParaRPr sz="1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691393F-C803-433E-8837-A74FF0C4BF78}"/>
              </a:ext>
            </a:extLst>
          </p:cNvPr>
          <p:cNvSpPr>
            <a:spLocks noGrp="1"/>
          </p:cNvSpPr>
          <p:nvPr/>
        </p:nvSpPr>
        <p:spPr>
          <a:xfrm>
            <a:off x="4399178" y="2103120"/>
            <a:ext cx="3393338" cy="192024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386A767-A80B-490B-B4B2-BDFDA68894E4}"/>
              </a:ext>
            </a:extLst>
          </p:cNvPr>
          <p:cNvSpPr>
            <a:spLocks noGrp="1"/>
          </p:cNvSpPr>
          <p:nvPr/>
        </p:nvSpPr>
        <p:spPr>
          <a:xfrm>
            <a:off x="4673498" y="2423160"/>
            <a:ext cx="2844698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0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0.34 s</a:t>
            </a:r>
            <a:endParaRPr sz="4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901E2A7-9A5E-43E5-8E67-F067C3FB0A4C}"/>
              </a:ext>
            </a:extLst>
          </p:cNvPr>
          <p:cNvSpPr>
            <a:spLocks noGrp="1"/>
          </p:cNvSpPr>
          <p:nvPr/>
        </p:nvSpPr>
        <p:spPr>
          <a:xfrm>
            <a:off x="4673498" y="3273552"/>
            <a:ext cx="284469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Electron TTFT</a:t>
            </a:r>
            <a:endParaRPr sz="15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FFC53EE-4D6A-4786-B8C0-9F0C259188D4}"/>
              </a:ext>
            </a:extLst>
          </p:cNvPr>
          <p:cNvSpPr>
            <a:spLocks noGrp="1"/>
          </p:cNvSpPr>
          <p:nvPr/>
        </p:nvSpPr>
        <p:spPr>
          <a:xfrm>
            <a:off x="4673498" y="3584448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p95 0.61 s</a:t>
            </a:r>
            <a:endParaRPr sz="12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69E2923-47D1-4308-B776-48301996ED31}"/>
              </a:ext>
            </a:extLst>
          </p:cNvPr>
          <p:cNvSpPr>
            <a:spLocks noGrp="1"/>
          </p:cNvSpPr>
          <p:nvPr/>
        </p:nvSpPr>
        <p:spPr>
          <a:xfrm>
            <a:off x="8158277" y="2103120"/>
            <a:ext cx="3393338" cy="192024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B8E115C-34B3-41CA-8619-3C0082546081}"/>
              </a:ext>
            </a:extLst>
          </p:cNvPr>
          <p:cNvSpPr>
            <a:spLocks noGrp="1"/>
          </p:cNvSpPr>
          <p:nvPr/>
        </p:nvSpPr>
        <p:spPr>
          <a:xfrm>
            <a:off x="8432597" y="2423160"/>
            <a:ext cx="2844698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0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0.29 s</a:t>
            </a:r>
            <a:endParaRPr sz="4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58E48F4-E0CA-4D9F-91DB-02C88C0C36C0}"/>
              </a:ext>
            </a:extLst>
          </p:cNvPr>
          <p:cNvSpPr>
            <a:spLocks noGrp="1"/>
          </p:cNvSpPr>
          <p:nvPr/>
        </p:nvSpPr>
        <p:spPr>
          <a:xfrm>
            <a:off x="8432597" y="3273552"/>
            <a:ext cx="284469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Lightning TTFB</a:t>
            </a:r>
            <a:endParaRPr sz="15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4A30B65-B801-4210-BF58-E2318FE005B5}"/>
              </a:ext>
            </a:extLst>
          </p:cNvPr>
          <p:cNvSpPr>
            <a:spLocks noGrp="1"/>
          </p:cNvSpPr>
          <p:nvPr/>
        </p:nvSpPr>
        <p:spPr>
          <a:xfrm>
            <a:off x="8432597" y="3584448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p95 0.43 s</a:t>
            </a:r>
            <a:endParaRPr sz="1200"/>
          </a:p>
        </p:txBody>
      </p:sp>
      <p:sp>
        <p:nvSpPr>
          <p:cNvPr id="9001" name="kicker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spc="200">
                <a:solidFill>
                  <a:srgbClr val="2563EB"/>
                </a:solidFill>
                <a:latin typeface="Arial"/>
              </a:rPr>
              <a:t>05  </a:t>
            </a:r>
            <a:r>
              <a:rPr lang="en-US" sz="1200" b="1" spc="200">
                <a:solidFill>
                  <a:srgbClr val="6B7280"/>
                </a:solidFill>
                <a:latin typeface="Arial"/>
              </a:rPr>
              <a:t>LATENCY</a:t>
            </a:r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FB65FD65-6B63-BBA4-9EA2-05D5B933FBB5}"/>
              </a:ext>
            </a:extLst>
          </p:cNvPr>
          <p:cNvSpPr>
            <a:spLocks noGrp="1"/>
          </p:cNvSpPr>
          <p:nvPr/>
        </p:nvSpPr>
        <p:spPr>
          <a:xfrm>
            <a:off x="640080" y="43891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0000"/>
              </a:lnSpc>
              <a:buNone/>
            </a:pPr>
            <a:r>
              <a:rPr sz="13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One final human call; cards show within-call medians. Six and nine digits were rejected, ten accepted, and booking completed with zero application errors.  </a:t>
            </a:r>
            <a:r>
              <a:rPr sz="13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Timings include network and orchestration; they are not provider benchmarks.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262073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r>
              <a:rPr lang="en-US" sz="1200" b="1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failure became a bounded engineering response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issues surfaced during controlled runs. Each was diagnosed and given a concrete fix.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122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2112264"/>
            <a:ext cx="401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98868" y="2112264"/>
            <a:ext cx="401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10911535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804872"/>
            <a:ext cx="5486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713432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fragmentation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2585416"/>
            <a:ext cx="39698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1.5 s thinking pause split one details request into three turns.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98868" y="2585416"/>
            <a:ext cx="40155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 LiveKit max delay 1.5 to 3.0 s: three turns became two while clean latency held.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109115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975304"/>
            <a:ext cx="5486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3883864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digits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3755848"/>
            <a:ext cx="39698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caller supplied incomplete six- and nine-digit phone numbers.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98868" y="3755848"/>
            <a:ext cx="40155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validator counted received vs required digits; booking revalidated before write.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782312"/>
            <a:ext cx="109115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136008"/>
            <a:ext cx="5486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" y="504456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barge-in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4916552"/>
            <a:ext cx="39698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call produced a false interruption and captured Aisha’s own words as user audio.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98868" y="4916552"/>
            <a:ext cx="40155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recovered; evidence suggests local echo, but packet loss and jitter were not captured.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952744"/>
            <a:ext cx="10911535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26F179E-90AC-481D-8E52-B094455877B9}"/>
              </a:ext>
            </a:extLst>
          </p:cNvPr>
          <p:cNvSpPr>
            <a:spLocks noGrp="1"/>
          </p:cNvSpPr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moves this MVP toward production</a:t>
            </a:r>
            <a:endParaRPr sz="2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048FC5-6FA1-4C55-A54E-8A81161B0A07}"/>
              </a:ext>
            </a:extLst>
          </p:cNvPr>
          <p:cNvSpPr>
            <a:spLocks noGrp="1"/>
          </p:cNvSpPr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Arial"/>
                <a:ea typeface="Arial"/>
                <a:cs typeface="Arial"/>
              </a:rPr>
              <a:t>08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3055C5E-ABFA-47C0-9089-7A6E84ED245C}"/>
              </a:ext>
            </a:extLst>
          </p:cNvPr>
          <p:cNvSpPr>
            <a:spLocks noGrp="1"/>
          </p:cNvSpPr>
          <p:nvPr/>
        </p:nvSpPr>
        <p:spPr>
          <a:xfrm>
            <a:off x="640080" y="1828800"/>
            <a:ext cx="7863840" cy="4023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IN" sz="1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Prevent outdated availability results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If the caller changes the requested date while a search is running, discard the old result and only present slots for the latest date.</a:t>
            </a:r>
          </a:p>
          <a:p>
            <a:pPr marL="0" indent="0">
              <a:lnSpc>
                <a:spcPct val="108000"/>
              </a:lnSpc>
              <a:buNone/>
            </a:pPr>
            <a:endParaRPr lang="en-IN" sz="1600" dirty="0"/>
          </a:p>
          <a:p>
            <a:pPr marL="0" indent="0">
              <a:lnSpc>
                <a:spcPct val="108000"/>
              </a:lnSpc>
              <a:buNone/>
            </a:pPr>
            <a:endParaRPr lang="en-IN" sz="16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sz="1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Harden the acoustic path</a:t>
            </a:r>
            <a:endParaRPr sz="1600" dirty="0"/>
          </a:p>
          <a:p>
            <a:pPr marL="0" indent="0">
              <a:lnSpc>
                <a:spcPct val="108000"/>
              </a:lnSpc>
              <a:buNone/>
            </a:pPr>
            <a:r>
              <a:rPr sz="13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Compare voice isolation, echo cancellation, headsets and devices; add WebRTC packet-loss and jitter logging.</a:t>
            </a:r>
            <a:r>
              <a:rPr lang="en-IN" sz="7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0" indent="0">
              <a:lnSpc>
                <a:spcPct val="108000"/>
              </a:lnSpc>
              <a:buNone/>
            </a:pPr>
            <a:endParaRPr lang="en-IN" sz="1600" dirty="0"/>
          </a:p>
          <a:p>
            <a:pPr marL="0" indent="0">
              <a:lnSpc>
                <a:spcPct val="108000"/>
              </a:lnSpc>
              <a:buNone/>
            </a:pPr>
            <a:endParaRPr sz="1600" dirty="0"/>
          </a:p>
          <a:p>
            <a:pPr marL="0" indent="0">
              <a:lnSpc>
                <a:spcPct val="108000"/>
              </a:lnSpc>
              <a:buNone/>
            </a:pPr>
            <a:r>
              <a:rPr sz="1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Add telephony, real scheduling and scale</a:t>
            </a:r>
            <a:endParaRPr sz="1600" dirty="0"/>
          </a:p>
          <a:p>
            <a:pPr marL="0" indent="0">
              <a:lnSpc>
                <a:spcPct val="108000"/>
              </a:lnSpc>
              <a:buNone/>
            </a:pPr>
            <a:r>
              <a:rPr sz="13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Repeat at 8 kHz over SIP, replace the in-memory calendar with a transactional backend, and expand speakers, accents, noise and repetitions.</a:t>
            </a:r>
            <a:endParaRPr sz="1600" dirty="0"/>
          </a:p>
        </p:txBody>
      </p:sp>
      <p:sp>
        <p:nvSpPr>
          <p:cNvPr id="9001" name="kicker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spc="200">
                <a:solidFill>
                  <a:srgbClr val="2563EB"/>
                </a:solidFill>
                <a:latin typeface="Arial"/>
              </a:rPr>
              <a:t>07  </a:t>
            </a:r>
            <a:r>
              <a:rPr lang="en-US" sz="1200" b="1" spc="200">
                <a:solidFill>
                  <a:srgbClr val="6B7280"/>
                </a:solidFill>
                <a:latin typeface="Arial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85740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498EF89-87FE-485B-90B2-CDF29F2981BC}"/>
              </a:ext>
            </a:extLst>
          </p:cNvPr>
          <p:cNvSpPr>
            <a:spLocks noGrp="1"/>
          </p:cNvSpPr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8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An MVP decision </a:t>
            </a:r>
            <a:r>
              <a:rPr lang="en-IN" sz="28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supported </a:t>
            </a:r>
            <a:r>
              <a:rPr sz="28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by </a:t>
            </a:r>
            <a:r>
              <a:rPr lang="en-IN" sz="28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controlled, auditable evidence</a:t>
            </a:r>
            <a:endParaRPr sz="2800" dirty="0">
              <a:solidFill>
                <a:srgbClr val="2563EB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1E80D3-3D35-447D-AB0A-AA6EB6EC27C6}"/>
              </a:ext>
            </a:extLst>
          </p:cNvPr>
          <p:cNvSpPr>
            <a:spLocks noGrp="1"/>
          </p:cNvSpPr>
          <p:nvPr/>
        </p:nvSpPr>
        <p:spPr>
          <a:xfrm>
            <a:off x="640080" y="2011680"/>
            <a:ext cx="10911535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40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•  Turn taking: 18 fixed-audio calls across R</a:t>
            </a:r>
            <a:r>
              <a:rPr lang="en-IN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0</a:t>
            </a:r>
            <a:r>
              <a:rPr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/R</a:t>
            </a:r>
            <a:r>
              <a:rPr lang="en-IN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1</a:t>
            </a:r>
            <a:r>
              <a:rPr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/R</a:t>
            </a:r>
            <a:r>
              <a:rPr lang="en-IN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2</a:t>
            </a:r>
            <a:r>
              <a:rPr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; 222 reference words; 2.70% normalized WER</a:t>
            </a:r>
            <a:endParaRPr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40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•  Model sweeps: 72 Electron requests and 24 Lightning syntheses; every scripted request succeeded</a:t>
            </a:r>
            <a:endParaRPr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40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•  Final acceptance: relative date, tools, phone recovery and booking passed with zero application errors</a:t>
            </a:r>
            <a:endParaRPr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40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•  Verification: 26 automated tests and code-quality checks passed; sensitive raw calls stay out of Git</a:t>
            </a:r>
            <a:endParaRPr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40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  Decision: R</a:t>
            </a:r>
            <a:r>
              <a:rPr lang="en-IN" sz="150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1</a:t>
            </a:r>
            <a:r>
              <a:rPr sz="150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 / E3 / L1 is the strongest tested configuration</a:t>
            </a:r>
            <a:endParaRPr sz="1500" dirty="0">
              <a:solidFill>
                <a:srgbClr val="2563EB"/>
              </a:solidFill>
            </a:endParaRPr>
          </a:p>
        </p:txBody>
      </p:sp>
      <p:sp>
        <p:nvSpPr>
          <p:cNvPr id="9001" name="kicker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spc="200" dirty="0">
                <a:solidFill>
                  <a:srgbClr val="2563EB"/>
                </a:solidFill>
                <a:latin typeface="Arial"/>
              </a:rPr>
              <a:t>08</a:t>
            </a:r>
            <a:r>
              <a:rPr lang="en-US" sz="1200" b="1" spc="200" dirty="0">
                <a:solidFill>
                  <a:srgbClr val="60A5FA"/>
                </a:solidFill>
                <a:latin typeface="Arial"/>
              </a:rPr>
              <a:t>  </a:t>
            </a:r>
            <a:r>
              <a:rPr lang="en-US" sz="1200" b="1" spc="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620998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1550</Words>
  <Application>Microsoft Office PowerPoint</Application>
  <DocSecurity>0</DocSecurity>
  <PresentationFormat>Widescreen</PresentationFormat>
  <Paragraphs>208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akshitagarg0208@gmail.com</cp:lastModifiedBy>
  <cp:revision>14</cp:revision>
  <dcterms:created xsi:type="dcterms:W3CDTF">2026-09-04T15:57:45Z</dcterms:created>
  <dcterms:modified xsi:type="dcterms:W3CDTF">2026-09-04T19:44:18Z</dcterms:modified>
</cp:coreProperties>
</file>